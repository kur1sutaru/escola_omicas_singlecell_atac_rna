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1"/>
  </p:notesMasterIdLst>
  <p:sldIdLst>
    <p:sldId id="256" r:id="rId2"/>
    <p:sldId id="257" r:id="rId3"/>
    <p:sldId id="258" r:id="rId4"/>
    <p:sldId id="259" r:id="rId5"/>
    <p:sldId id="260" r:id="rId6"/>
    <p:sldId id="282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3" r:id="rId28"/>
    <p:sldId id="284" r:id="rId29"/>
    <p:sldId id="281" r:id="rId3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bertura" id="{83EDFFBC-E7B2-A7BA-322D-0C22A5F28C88}">
          <p14:sldIdLst>
            <p14:sldId id="256"/>
            <p14:sldId id="257"/>
            <p14:sldId id="258"/>
          </p14:sldIdLst>
        </p14:section>
        <p14:section name="Multiome" id="{0A2E4AEA-16D6-5B92-BF35-FBFF333EA715}">
          <p14:sldIdLst>
            <p14:sldId id="259"/>
            <p14:sldId id="260"/>
            <p14:sldId id="282"/>
            <p14:sldId id="261"/>
            <p14:sldId id="262"/>
            <p14:sldId id="263"/>
            <p14:sldId id="264"/>
            <p14:sldId id="265"/>
            <p14:sldId id="266"/>
          </p14:sldIdLst>
        </p14:section>
        <p14:section name="Redes regulatórias" id="{516E4A55-F877-FF35-5AF1-4D53FB46B2BC}">
          <p14:sldIdLst>
            <p14:sldId id="267"/>
            <p14:sldId id="268"/>
            <p14:sldId id="269"/>
            <p14:sldId id="270"/>
            <p14:sldId id="271"/>
            <p14:sldId id="272"/>
            <p14:sldId id="273"/>
          </p14:sldIdLst>
        </p14:section>
        <p14:section name="Reprodutibilidade" id="{5CC60D87-9DF3-8A07-9B97-04E1FD6BA633}">
          <p14:sldIdLst>
            <p14:sldId id="274"/>
            <p14:sldId id="275"/>
            <p14:sldId id="276"/>
            <p14:sldId id="277"/>
            <p14:sldId id="278"/>
            <p14:sldId id="279"/>
          </p14:sldIdLst>
        </p14:section>
        <p14:section name="Encerramento" id="{3D56F5C3-EF46-621A-732D-6B41DDDBDB7A}">
          <p14:sldIdLst>
            <p14:sldId id="280"/>
            <p14:sldId id="283"/>
            <p14:sldId id="284"/>
            <p14:sldId id="28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66" autoAdjust="0"/>
    <p:restoredTop sz="94610"/>
  </p:normalViewPr>
  <p:slideViewPr>
    <p:cSldViewPr snapToGrid="0" snapToObjects="1">
      <p:cViewPr>
        <p:scale>
          <a:sx n="121" d="100"/>
          <a:sy n="121" d="100"/>
        </p:scale>
        <p:origin x="331" y="-11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555802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Números reais, calculados no notebook 05 com o dataset pbmc68k_reduced que vem no Scanpy.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Dados públicos: Matsu-ura et al., PNAS 2025, GEO GSE293526. Notebook 06 roda com upload do outs/ de qualquer experimento.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F8CB8D-686A-72C6-84E5-2C7D1C93D1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1F35914-A246-A60C-B223-9B651C1229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A5B0314-9AB6-BEDB-59F8-EED2B36D6A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D58350-870E-F346-7D35-D09D3D185CE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41370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UL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1143000"/>
            <a:ext cx="804672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marL="0" indent="0" algn="l">
              <a:buNone/>
            </a:pPr>
            <a:endParaRPr lang="en-US" sz="34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2788920"/>
            <a:ext cx="80467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600" dirty="0">
                <a:solidFill>
                  <a:srgbClr val="C9CEDD"/>
                </a:solidFill>
              </a:defRPr>
            </a:lvl1pPr>
          </a:lstStyle>
          <a:p>
            <a:pPr marL="0" indent="0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A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1234440"/>
            <a:ext cx="804672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600" b="1" dirty="0">
                <a:solidFill>
                  <a:srgbClr val="C9CEDD"/>
                </a:solidFill>
              </a:defRPr>
            </a:lvl1pPr>
          </a:lstStyle>
          <a:p>
            <a:pPr marL="0" indent="0">
              <a:buNone/>
            </a:pPr>
            <a:endParaRPr lang="en-US" sz="16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marL="0" indent="0" algn="l">
              <a:buNone/>
            </a:pPr>
            <a:endParaRPr lang="en-US" sz="36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UD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marL="0" indent="0" algn="l">
              <a:buNone/>
            </a:pPr>
            <a:endParaRPr lang="en-US" sz="2600" dirty="0"/>
          </a:p>
        </p:txBody>
      </p:sp>
      <p:sp>
        <p:nvSpPr>
          <p:cNvPr id="3" name="Text 0"/>
          <p:cNvSpPr/>
          <p:nvPr/>
        </p:nvSpPr>
        <p:spPr>
          <a:xfrm>
            <a:off x="457200" y="4773168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0A6"/>
                </a:solidFill>
              </a:rPr>
              <a:t>Single-cell avançado · RNA, ATAC e Multiome no Colab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8A90A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8A90A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hyperlink" Target="https://panglaodb.se/#google_vignette" TargetMode="External"/><Relationship Id="rId3" Type="http://schemas.openxmlformats.org/officeDocument/2006/relationships/hyperlink" Target="https://singlecell.broadinstitute.org/single_cell" TargetMode="External"/><Relationship Id="rId7" Type="http://schemas.openxmlformats.org/officeDocument/2006/relationships/hyperlink" Target="https://www.ebi.ac.uk/gxa/sc/home" TargetMode="External"/><Relationship Id="rId2" Type="http://schemas.openxmlformats.org/officeDocument/2006/relationships/hyperlink" Target="https://cellxgene.cziscience.com/" TargetMode="External"/><Relationship Id="rId1" Type="http://schemas.openxmlformats.org/officeDocument/2006/relationships/slideLayout" Target="../slideLayouts/slideLayout4.xml"/><Relationship Id="rId6" Type="http://schemas.openxmlformats.org/officeDocument/2006/relationships/hyperlink" Target="https://data.humancellatlas.org/" TargetMode="External"/><Relationship Id="rId5" Type="http://schemas.openxmlformats.org/officeDocument/2006/relationships/hyperlink" Target="https://www.nygen.io/resources/blog/public-single-cell-rna-seq-databases" TargetMode="External"/><Relationship Id="rId4" Type="http://schemas.openxmlformats.org/officeDocument/2006/relationships/hyperlink" Target="https://brain-map.org/our-research/cell-types-taxonomies/cell-types-database-rna-seq-data" TargetMode="External"/><Relationship Id="rId9" Type="http://schemas.openxmlformats.org/officeDocument/2006/relationships/hyperlink" Target="https://www.sc-best-practices.org/" TargetMode="Externa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1143000"/>
            <a:ext cx="8046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Análise avançada de single-cell RNA-seq, ATAC-seq e Multiome no Google Colab</a:t>
            </a:r>
            <a:endParaRPr lang="en-US" sz="34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2788920"/>
            <a:ext cx="8046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Aula 2 · Multiome, redes regulatórias e reprodutibilidade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C9CEDD"/>
                </a:solidFill>
              </a:rPr>
              <a:t>Dra. Cristal Villalba · 27 de outubro de 2026 · 18h–21h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C9CEDD"/>
                </a:solidFill>
              </a:rPr>
              <a:t>github.com/kur1sutaru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Roteiro de hoje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457200" cy="4572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" y="1170432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188720" y="1078992"/>
            <a:ext cx="822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18:00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2057400" y="1078992"/>
            <a:ext cx="6400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600" dirty="0">
                <a:solidFill>
                  <a:schemeClr val="tx2"/>
                </a:solidFill>
              </a:rPr>
              <a:t>Recapitulação e Multiome: RNA + ATAC da mesma célula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48640" y="1655064"/>
            <a:ext cx="457200" cy="4572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512" y="1773936"/>
            <a:ext cx="219456" cy="219456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188720" y="1682496"/>
            <a:ext cx="822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18:30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2057400" y="1682496"/>
            <a:ext cx="6400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600" dirty="0">
                <a:solidFill>
                  <a:schemeClr val="tx2"/>
                </a:solidFill>
              </a:rPr>
              <a:t>Prática: MuData, WNN, MultiVI, ligações pico–gene</a:t>
            </a:r>
            <a:endParaRPr lang="en-US" sz="1600" dirty="0"/>
          </a:p>
        </p:txBody>
      </p:sp>
      <p:sp>
        <p:nvSpPr>
          <p:cNvPr id="11" name="Shape 7"/>
          <p:cNvSpPr/>
          <p:nvPr/>
        </p:nvSpPr>
        <p:spPr>
          <a:xfrm>
            <a:off x="548640" y="2258568"/>
            <a:ext cx="457200" cy="45720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7512" y="2377440"/>
            <a:ext cx="219456" cy="219456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188720" y="2286000"/>
            <a:ext cx="822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19:15</a:t>
            </a:r>
            <a:endParaRPr lang="en-US" sz="1600" dirty="0"/>
          </a:p>
        </p:txBody>
      </p:sp>
      <p:sp>
        <p:nvSpPr>
          <p:cNvPr id="14" name="Text 9"/>
          <p:cNvSpPr txBox="1"/>
          <p:nvPr/>
        </p:nvSpPr>
        <p:spPr>
          <a:xfrm>
            <a:off x="2057400" y="2286000"/>
            <a:ext cx="6400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600" dirty="0">
                <a:solidFill>
                  <a:schemeClr val="tx2"/>
                </a:solidFill>
              </a:rPr>
              <a:t>Intervalo</a:t>
            </a:r>
            <a:endParaRPr lang="en-US" sz="1600" dirty="0"/>
          </a:p>
        </p:txBody>
      </p:sp>
      <p:sp>
        <p:nvSpPr>
          <p:cNvPr id="15" name="Shape 10"/>
          <p:cNvSpPr/>
          <p:nvPr/>
        </p:nvSpPr>
        <p:spPr>
          <a:xfrm>
            <a:off x="548640" y="2862072"/>
            <a:ext cx="457200" cy="45720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7512" y="2980944"/>
            <a:ext cx="219456" cy="219456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188720" y="2889504"/>
            <a:ext cx="822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19:25</a:t>
            </a:r>
            <a:endParaRPr lang="en-US" sz="1600" dirty="0"/>
          </a:p>
        </p:txBody>
      </p:sp>
      <p:sp>
        <p:nvSpPr>
          <p:cNvPr id="18" name="Text 12"/>
          <p:cNvSpPr txBox="1"/>
          <p:nvPr/>
        </p:nvSpPr>
        <p:spPr>
          <a:xfrm>
            <a:off x="2057400" y="2889504"/>
            <a:ext cx="6400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600" dirty="0">
                <a:solidFill>
                  <a:schemeClr val="tx2"/>
                </a:solidFill>
              </a:rPr>
              <a:t>Redes regulatórias: eRegulons TF → enhancer → gene</a:t>
            </a:r>
            <a:endParaRPr lang="en-US" sz="1600" dirty="0"/>
          </a:p>
        </p:txBody>
      </p:sp>
      <p:sp>
        <p:nvSpPr>
          <p:cNvPr id="19" name="Shape 13"/>
          <p:cNvSpPr/>
          <p:nvPr/>
        </p:nvSpPr>
        <p:spPr>
          <a:xfrm>
            <a:off x="548640" y="3465576"/>
            <a:ext cx="457200" cy="45720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7512" y="3584448"/>
            <a:ext cx="219456" cy="219456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1188720" y="3493008"/>
            <a:ext cx="822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20:25</a:t>
            </a:r>
            <a:endParaRPr lang="en-US" sz="1600" dirty="0"/>
          </a:p>
        </p:txBody>
      </p:sp>
      <p:sp>
        <p:nvSpPr>
          <p:cNvPr id="22" name="Text 15"/>
          <p:cNvSpPr txBox="1"/>
          <p:nvPr/>
        </p:nvSpPr>
        <p:spPr>
          <a:xfrm>
            <a:off x="2057400" y="3493008"/>
            <a:ext cx="6400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600" dirty="0">
                <a:solidFill>
                  <a:schemeClr val="tx2"/>
                </a:solidFill>
              </a:rPr>
              <a:t>Reprodutibilidade, pipelines e FAIR</a:t>
            </a:r>
            <a:endParaRPr lang="en-US" sz="1600" dirty="0"/>
          </a:p>
        </p:txBody>
      </p:sp>
      <p:sp>
        <p:nvSpPr>
          <p:cNvPr id="23" name="Shape 16"/>
          <p:cNvSpPr/>
          <p:nvPr/>
        </p:nvSpPr>
        <p:spPr>
          <a:xfrm>
            <a:off x="548640" y="4069080"/>
            <a:ext cx="457200" cy="45720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7512" y="4187952"/>
            <a:ext cx="219456" cy="219456"/>
          </a:xfrm>
          <a:prstGeom prst="rect">
            <a:avLst/>
          </a:prstGeom>
        </p:spPr>
      </p:pic>
      <p:sp>
        <p:nvSpPr>
          <p:cNvPr id="25" name="Text 17"/>
          <p:cNvSpPr txBox="1"/>
          <p:nvPr/>
        </p:nvSpPr>
        <p:spPr>
          <a:xfrm>
            <a:off x="1188720" y="4096512"/>
            <a:ext cx="822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20:50</a:t>
            </a:r>
            <a:endParaRPr lang="en-US" sz="1600" dirty="0"/>
          </a:p>
        </p:txBody>
      </p:sp>
      <p:sp>
        <p:nvSpPr>
          <p:cNvPr id="26" name="Text 18"/>
          <p:cNvSpPr txBox="1"/>
          <p:nvPr/>
        </p:nvSpPr>
        <p:spPr>
          <a:xfrm>
            <a:off x="2057400" y="4096512"/>
            <a:ext cx="6400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600" dirty="0">
                <a:solidFill>
                  <a:schemeClr val="tx2"/>
                </a:solidFill>
              </a:rPr>
              <a:t>Encerramento e notebook bônus</a:t>
            </a:r>
            <a:endParaRPr lang="en-US" sz="1600" dirty="0"/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8A90A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Ontem, em três frases</a:t>
            </a:r>
            <a:endParaRPr lang="en-US" sz="2600" dirty="0"/>
          </a:p>
        </p:txBody>
      </p:sp>
      <p:sp>
        <p:nvSpPr>
          <p:cNvPr id="3" name="card Integração"/>
          <p:cNvSpPr/>
          <p:nvPr/>
        </p:nvSpPr>
        <p:spPr>
          <a:xfrm>
            <a:off x="457200" y="1097280"/>
            <a:ext cx="2624328" cy="237744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40080" y="128016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1389888"/>
            <a:ext cx="237744" cy="23774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234440" y="1261872"/>
            <a:ext cx="17099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Integração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847088"/>
            <a:ext cx="2258568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Meça mistura de lotes e conservação biológica. Não confie só no UMAP.</a:t>
            </a:r>
            <a:endParaRPr lang="en-US" sz="1400" dirty="0"/>
          </a:p>
        </p:txBody>
      </p:sp>
      <p:sp>
        <p:nvSpPr>
          <p:cNvPr id="8" name="card Anotação"/>
          <p:cNvSpPr/>
          <p:nvPr/>
        </p:nvSpPr>
        <p:spPr>
          <a:xfrm>
            <a:off x="3264408" y="1097280"/>
            <a:ext cx="2624328" cy="237744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3447288" y="128016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7016" y="1389888"/>
            <a:ext cx="237744" cy="23774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041648" y="1261872"/>
            <a:ext cx="17099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Anotação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3447288" y="1847088"/>
            <a:ext cx="2258568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Use duas ou mais evidências independentes: classificador, referência, marcadores.</a:t>
            </a:r>
            <a:endParaRPr lang="en-US" sz="1400" dirty="0"/>
          </a:p>
        </p:txBody>
      </p:sp>
      <p:sp>
        <p:nvSpPr>
          <p:cNvPr id="13" name="card ATAC"/>
          <p:cNvSpPr/>
          <p:nvPr/>
        </p:nvSpPr>
        <p:spPr>
          <a:xfrm>
            <a:off x="6071616" y="1097280"/>
            <a:ext cx="2624328" cy="237744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0"/>
          <p:cNvSpPr/>
          <p:nvPr/>
        </p:nvSpPr>
        <p:spPr>
          <a:xfrm>
            <a:off x="6254496" y="128016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64224" y="1389888"/>
            <a:ext cx="237744" cy="237744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848856" y="1261872"/>
            <a:ext cx="17099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ATAC</a:t>
            </a:r>
            <a:endParaRPr lang="en-US" sz="1500" dirty="0"/>
          </a:p>
        </p:txBody>
      </p:sp>
      <p:sp>
        <p:nvSpPr>
          <p:cNvPr id="17" name="Text 12"/>
          <p:cNvSpPr txBox="1"/>
          <p:nvPr/>
        </p:nvSpPr>
        <p:spPr>
          <a:xfrm>
            <a:off x="6254496" y="1847088"/>
            <a:ext cx="2258568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Fragmentos → tiles → picos por grupo → motivos. O chromVAR aponta a família de TF.</a:t>
            </a:r>
            <a:endParaRPr lang="en-US" sz="1400" dirty="0"/>
          </a:p>
        </p:txBody>
      </p:sp>
      <p:sp>
        <p:nvSpPr>
          <p:cNvPr id="18" name="Text 13"/>
          <p:cNvSpPr txBox="1"/>
          <p:nvPr/>
        </p:nvSpPr>
        <p:spPr>
          <a:xfrm>
            <a:off x="457200" y="3749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Hoje: com RNA e ATAC na mesma célula, ligamos o TF ao enhancer e o enhancer ao gene.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8A90A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12344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600" b="1" dirty="0">
                <a:solidFill>
                  <a:srgbClr val="C9CEDD"/>
                </a:solidFill>
              </a:rPr>
              <a:t>Parte A</a:t>
            </a:r>
            <a:endParaRPr lang="en-US" sz="16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Multiome: RNA e ATAC do mesmo núcleo</a:t>
            </a:r>
            <a:endParaRPr lang="en-US" sz="3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muda quando as modalidades são pareadas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2011680" cy="914400"/>
          </a:xfrm>
          <a:prstGeom prst="roundRect">
            <a:avLst>
              <a:gd name="adj" fmla="val 8000"/>
            </a:avLst>
          </a:prstGeom>
          <a:solidFill>
            <a:schemeClr val="tx1"/>
          </a:solidFill>
          <a:ln w="15875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512064" y="1188720"/>
            <a:ext cx="19019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núcleo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514600" y="1417320"/>
            <a:ext cx="731520" cy="0"/>
          </a:xfrm>
          <a:prstGeom prst="line">
            <a:avLst/>
          </a:prstGeom>
          <a:noFill/>
          <a:ln w="19050">
            <a:solidFill>
              <a:srgbClr val="3A406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514600" y="1874520"/>
            <a:ext cx="731520" cy="137160"/>
          </a:xfrm>
          <a:prstGeom prst="line">
            <a:avLst/>
          </a:prstGeom>
          <a:noFill/>
          <a:ln w="19050">
            <a:solidFill>
              <a:srgbClr val="3A406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291840" y="914400"/>
            <a:ext cx="1828800" cy="548640"/>
          </a:xfrm>
          <a:prstGeom prst="roundRect">
            <a:avLst>
              <a:gd name="adj" fmla="val 13333"/>
            </a:avLst>
          </a:prstGeom>
          <a:solidFill>
            <a:schemeClr val="accent1"/>
          </a:solidFill>
          <a:ln w="15875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3346704" y="914400"/>
            <a:ext cx="17190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RNA (3' GEX)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91840" y="1828800"/>
            <a:ext cx="1828800" cy="548640"/>
          </a:xfrm>
          <a:prstGeom prst="roundRect">
            <a:avLst>
              <a:gd name="adj" fmla="val 13333"/>
            </a:avLst>
          </a:prstGeom>
          <a:solidFill>
            <a:schemeClr val="accent2"/>
          </a:solidFill>
          <a:ln w="15875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3346704" y="1828800"/>
            <a:ext cx="17190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ATAC (Tn5)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5303520" y="14173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400" b="1" dirty="0">
                <a:solidFill>
                  <a:schemeClr val="accent3"/>
                </a:solidFill>
              </a:rPr>
              <a:t>mesmo barcode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2743200"/>
            <a:ext cx="51206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Sem "adivinhar" pares entre modalidades (anchors, label transfer)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Correlação RNA × ATAC nas mesmas células → ligações pico–gene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Desafio: combinar sinais com ruído e escala muito diferentes</a:t>
            </a:r>
            <a:endParaRPr lang="en-US" sz="1500" dirty="0"/>
          </a:p>
        </p:txBody>
      </p:sp>
      <p:sp>
        <p:nvSpPr>
          <p:cNvPr id="13" name="bloco de código"/>
          <p:cNvSpPr/>
          <p:nvPr/>
        </p:nvSpPr>
        <p:spPr>
          <a:xfrm>
            <a:off x="5852160" y="2743200"/>
            <a:ext cx="2834640" cy="1737360"/>
          </a:xfrm>
          <a:prstGeom prst="roundRect">
            <a:avLst>
              <a:gd name="adj" fmla="val 3158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5989320" y="2834640"/>
            <a:ext cx="25603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6E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cellranger-arc outs/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E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filtered_feature_bc_matrix.h5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E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Gene Expression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E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Peaks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E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atac_fragments.tsv.gz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E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atac_peak_annotation.tsv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8A90A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387D8C-9C4B-7BB3-8B58-3093D7000AE7}"/>
              </a:ext>
            </a:extLst>
          </p:cNvPr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rPr lang="en-US" dirty="0"/>
              <a:t>O </a:t>
            </a:r>
            <a:r>
              <a:rPr lang="en-US" dirty="0" err="1"/>
              <a:t>que</a:t>
            </a:r>
            <a:r>
              <a:rPr lang="en-US" dirty="0"/>
              <a:t> se </a:t>
            </a:r>
            <a:r>
              <a:rPr lang="en-US" dirty="0" err="1"/>
              <a:t>espera</a:t>
            </a:r>
            <a:r>
              <a:rPr lang="en-US" dirty="0"/>
              <a:t> no </a:t>
            </a:r>
            <a:r>
              <a:rPr lang="en-US" dirty="0" err="1"/>
              <a:t>multiome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D313DA6-8028-C83B-1324-8A19B7A9E8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508" y="772717"/>
            <a:ext cx="7359293" cy="39023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85338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MuData: um contêiner para várias AnnData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754880" cy="3383280"/>
          </a:xfrm>
          <a:prstGeom prst="roundRect">
            <a:avLst>
              <a:gd name="adj" fmla="val 2162"/>
            </a:avLst>
          </a:prstGeom>
          <a:solidFill>
            <a:srgbClr val="EFF2F7"/>
          </a:solidFill>
          <a:ln w="19050">
            <a:solidFill>
              <a:srgbClr val="7B5E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640080" y="11887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500" b="1" dirty="0">
                <a:solidFill>
                  <a:schemeClr val="accent3"/>
                </a:solidFill>
              </a:rPr>
              <a:t>mdata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31520" y="1691640"/>
            <a:ext cx="2011680" cy="1463040"/>
          </a:xfrm>
          <a:prstGeom prst="roundRect">
            <a:avLst>
              <a:gd name="adj" fmla="val 5000"/>
            </a:avLst>
          </a:prstGeom>
          <a:solidFill>
            <a:schemeClr val="accent1"/>
          </a:solidFill>
          <a:ln w="15875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786384" y="1691640"/>
            <a:ext cx="190195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mod["rna"]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AnnData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células × genes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926080" y="1691640"/>
            <a:ext cx="2011680" cy="1463040"/>
          </a:xfrm>
          <a:prstGeom prst="roundRect">
            <a:avLst>
              <a:gd name="adj" fmla="val 5000"/>
            </a:avLst>
          </a:prstGeom>
          <a:solidFill>
            <a:schemeClr val="accent2"/>
          </a:solidFill>
          <a:ln w="15875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2980944" y="1691640"/>
            <a:ext cx="190195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mod["atac"]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AnnData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células × picos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31520" y="3383280"/>
            <a:ext cx="4206240" cy="868680"/>
          </a:xfrm>
          <a:prstGeom prst="roundRect">
            <a:avLst>
              <a:gd name="adj" fmla="val 8421"/>
            </a:avLst>
          </a:prstGeom>
          <a:solidFill>
            <a:schemeClr val="accent3"/>
          </a:solidFill>
          <a:ln w="1587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786384" y="3383280"/>
            <a:ext cx="40965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obs · obsm · obsp compartilhados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(cell_type, X_wnn_umap, wnn_connectivities)</a:t>
            </a:r>
            <a:endParaRPr lang="en-US" sz="1200" dirty="0"/>
          </a:p>
        </p:txBody>
      </p:sp>
      <p:sp>
        <p:nvSpPr>
          <p:cNvPr id="11" name="bloco de código"/>
          <p:cNvSpPr/>
          <p:nvPr/>
        </p:nvSpPr>
        <p:spPr>
          <a:xfrm>
            <a:off x="5486400" y="1097280"/>
            <a:ext cx="3200400" cy="3383280"/>
          </a:xfrm>
          <a:prstGeom prst="roundRect">
            <a:avLst>
              <a:gd name="adj" fmla="val 1714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5623560" y="1188720"/>
            <a:ext cx="29260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6E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mdata = mu.read_10x_h5(h5)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E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rna = mdata.mod["rna"]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E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atac = mdata.mod["atac"]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E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QC por modalidade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E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mu.pp.filter_obs(rna,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E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"pct_counts_mt",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E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lambda x: x &lt; 20)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E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só células nas duas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E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mu.pp.intersect_obs(mdata)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E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mdata.update()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8A90A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WNN: cada célula decide em quem confiar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2103120" cy="731520"/>
          </a:xfrm>
          <a:prstGeom prst="roundRect">
            <a:avLst>
              <a:gd name="adj" fmla="val 10000"/>
            </a:avLst>
          </a:prstGeom>
          <a:solidFill>
            <a:schemeClr val="accent1"/>
          </a:solidFill>
          <a:ln w="15875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512064" y="1188720"/>
            <a:ext cx="19933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grafo kNN RNA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(PCA)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2286000"/>
            <a:ext cx="2103120" cy="731520"/>
          </a:xfrm>
          <a:prstGeom prst="roundRect">
            <a:avLst>
              <a:gd name="adj" fmla="val 10000"/>
            </a:avLst>
          </a:prstGeom>
          <a:solidFill>
            <a:schemeClr val="accent2"/>
          </a:solidFill>
          <a:ln w="15875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512064" y="2286000"/>
            <a:ext cx="19933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grafo kNN ATAC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(LSI 2–30)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606040" y="1554480"/>
            <a:ext cx="822960" cy="502920"/>
          </a:xfrm>
          <a:prstGeom prst="line">
            <a:avLst/>
          </a:prstGeom>
          <a:noFill/>
          <a:ln w="19050">
            <a:solidFill>
              <a:srgbClr val="3A406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606040" y="2651760"/>
            <a:ext cx="822960" cy="0"/>
          </a:xfrm>
          <a:prstGeom prst="line">
            <a:avLst/>
          </a:prstGeom>
          <a:noFill/>
          <a:ln w="19050">
            <a:solidFill>
              <a:srgbClr val="3A406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474720" y="1691640"/>
            <a:ext cx="2103120" cy="822960"/>
          </a:xfrm>
          <a:prstGeom prst="roundRect">
            <a:avLst>
              <a:gd name="adj" fmla="val 8889"/>
            </a:avLst>
          </a:prstGeom>
          <a:solidFill>
            <a:schemeClr val="accent3"/>
          </a:solidFill>
          <a:ln w="1587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3529584" y="1691640"/>
            <a:ext cx="19933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pesos por célula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w_RNA + w_ATAC = 1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623560" y="2103120"/>
            <a:ext cx="548640" cy="0"/>
          </a:xfrm>
          <a:prstGeom prst="line">
            <a:avLst/>
          </a:prstGeom>
          <a:noFill/>
          <a:ln w="19050">
            <a:solidFill>
              <a:srgbClr val="3A406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6217920" y="1691640"/>
            <a:ext cx="2468880" cy="822960"/>
          </a:xfrm>
          <a:prstGeom prst="roundRect">
            <a:avLst>
              <a:gd name="adj" fmla="val 8889"/>
            </a:avLst>
          </a:prstGeom>
          <a:solidFill>
            <a:schemeClr val="tx1"/>
          </a:solidFill>
          <a:ln w="15875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6272784" y="1691640"/>
            <a:ext cx="23591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grafo WNN → UMAP, Leiden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32918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Peso = quão bem uma modalidade prediz os vizinhos da outra (Hao et al., Cell 2021)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T CD4 × CD8 se separam melhor pelo RNA; certos estados de cromatina, pelo ATAC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Saída é um grafo, não um embedding: serve para UMAP e clusterização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8A90A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WNN, MultiVI e totalVI: quem faz o quê</a:t>
            </a:r>
            <a:endParaRPr lang="en-US" sz="26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1938528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WNN (muon / Seurat)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MultiVI (scvi-tools)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totalVI (scvi-tools)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D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Modalidades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D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quaisquer (grafos)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D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RNA + ATAC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D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RNA + proteína (CITE-seq)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D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Saída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D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grafo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D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espaço latente + imputação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D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espaço latente + proteína sem fundo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D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Não pareadas?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D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não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D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 (só RNA / só ATAC)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D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painéis diferentes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D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D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integrar antes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D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batch_key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D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batch_key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D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D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segundos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D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minutos (GPU)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D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minutos (GPU)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32918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400" i="1" dirty="0">
                <a:solidFill>
                  <a:schemeClr val="tx2"/>
                </a:solidFill>
              </a:rPr>
              <a:t>totalVI é o "irmão" do MultiVI para CITE-seq, não para ATAC. No notebook ele aparece como seção opcional.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8A90A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Ligações pico–gene: qual enhancer regula qual gene?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1885950" cy="868680"/>
          </a:xfrm>
          <a:prstGeom prst="roundRect">
            <a:avLst>
              <a:gd name="adj" fmla="val 8421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502920" y="1188720"/>
            <a:ext cx="179451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metacélulas (clusters finos no WNN)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379726" y="1623060"/>
            <a:ext cx="155448" cy="0"/>
          </a:xfrm>
          <a:prstGeom prst="line">
            <a:avLst/>
          </a:prstGeom>
          <a:noFill/>
          <a:ln w="19050">
            <a:solidFill>
              <a:srgbClr val="3A406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571750" y="1188720"/>
            <a:ext cx="1885950" cy="868680"/>
          </a:xfrm>
          <a:prstGeom prst="roundRect">
            <a:avLst>
              <a:gd name="adj" fmla="val 8421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2617470" y="1188720"/>
            <a:ext cx="179451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pseudobulk log-CPM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494276" y="1623060"/>
            <a:ext cx="155448" cy="0"/>
          </a:xfrm>
          <a:prstGeom prst="line">
            <a:avLst/>
          </a:prstGeom>
          <a:noFill/>
          <a:ln w="19050">
            <a:solidFill>
              <a:srgbClr val="3A406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686300" y="1188720"/>
            <a:ext cx="1885950" cy="868680"/>
          </a:xfrm>
          <a:prstGeom prst="roundRect">
            <a:avLst>
              <a:gd name="adj" fmla="val 8421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4732020" y="1188720"/>
            <a:ext cx="179451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picos a ≤ 100 kb do gene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608826" y="1623060"/>
            <a:ext cx="155448" cy="0"/>
          </a:xfrm>
          <a:prstGeom prst="line">
            <a:avLst/>
          </a:prstGeom>
          <a:noFill/>
          <a:ln w="19050">
            <a:solidFill>
              <a:srgbClr val="3A406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6800850" y="1188720"/>
            <a:ext cx="1885950" cy="868680"/>
          </a:xfrm>
          <a:prstGeom prst="roundRect">
            <a:avLst>
              <a:gd name="adj" fmla="val 8421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6846570" y="1188720"/>
            <a:ext cx="179451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Pearson + nulo trans</a:t>
            </a:r>
            <a:endParaRPr lang="en-US" sz="1200" dirty="0"/>
          </a:p>
        </p:txBody>
      </p:sp>
      <p:sp>
        <p:nvSpPr>
          <p:cNvPr id="14" name="card Por que metacélulas?"/>
          <p:cNvSpPr/>
          <p:nvPr/>
        </p:nvSpPr>
        <p:spPr>
          <a:xfrm>
            <a:off x="457200" y="2377440"/>
            <a:ext cx="3931920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40080" y="2560320"/>
            <a:ext cx="457200" cy="4572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2670048"/>
            <a:ext cx="237744" cy="237744"/>
          </a:xfrm>
          <a:prstGeom prst="rect">
            <a:avLst/>
          </a:prstGeom>
        </p:spPr>
      </p:pic>
      <p:sp>
        <p:nvSpPr>
          <p:cNvPr id="17" name="Text 14"/>
          <p:cNvSpPr txBox="1"/>
          <p:nvPr/>
        </p:nvSpPr>
        <p:spPr>
          <a:xfrm>
            <a:off x="1234440" y="2542032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Por que metacélulas?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640080" y="3127248"/>
            <a:ext cx="35661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Por célula, a maioria das entradas é zero. Agregar células parecidas recupera a covariação (ArchR, Signac, SCENIC+).</a:t>
            </a:r>
            <a:endParaRPr lang="en-US" sz="1400" dirty="0"/>
          </a:p>
        </p:txBody>
      </p:sp>
      <p:sp>
        <p:nvSpPr>
          <p:cNvPr id="19" name="card Nulo empírico"/>
          <p:cNvSpPr/>
          <p:nvPr/>
        </p:nvSpPr>
        <p:spPr>
          <a:xfrm>
            <a:off x="4754880" y="2377440"/>
            <a:ext cx="3931920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4937760" y="2560320"/>
            <a:ext cx="457200" cy="4572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47488" y="2670048"/>
            <a:ext cx="237744" cy="237744"/>
          </a:xfrm>
          <a:prstGeom prst="rect">
            <a:avLst/>
          </a:prstGeom>
        </p:spPr>
      </p:pic>
      <p:sp>
        <p:nvSpPr>
          <p:cNvPr id="22" name="Text 18"/>
          <p:cNvSpPr txBox="1"/>
          <p:nvPr/>
        </p:nvSpPr>
        <p:spPr>
          <a:xfrm>
            <a:off x="5532120" y="2542032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Nulo empírico</a:t>
            </a:r>
            <a:endParaRPr lang="en-US" sz="1500" dirty="0"/>
          </a:p>
        </p:txBody>
      </p:sp>
      <p:sp>
        <p:nvSpPr>
          <p:cNvPr id="23" name="Text 19"/>
          <p:cNvSpPr txBox="1"/>
          <p:nvPr/>
        </p:nvSpPr>
        <p:spPr>
          <a:xfrm>
            <a:off x="4937760" y="3127248"/>
            <a:ext cx="35661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Correlação do gene com picos de outros cromossomos (sem relação cis) → p empírico → FDR (BH).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8A90A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Ponte com R: Signac/Seurat ↔ muon/Scanpy</a:t>
            </a:r>
            <a:endParaRPr lang="en-US" sz="26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Signac / Seurat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 (este curso)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D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Ler cellranger-arc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D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Read10X_h5 + CreateChromatinAssay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D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mu.read_10x_h5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D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Normalizar / reduzir ATAC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D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RunTFIDF + RunSVD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D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mu.atac.pp.tfidf + mu.atac.tl.lsi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D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Grafo conjunto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D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FindMultiModalNeighbors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D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mu.pp.neighbors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D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Pico–gene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D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LinkPeaks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D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metacélulas + correlação + nulo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D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Motivos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D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AddMotifs + RunChromVAR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D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SnapATAC2 / chromVAR esparso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D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Coverage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D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CoveragePlot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D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snap.ex.export_coverage + IGV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8A90A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Prática 3 · notebook 03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1034578" cy="914400"/>
          </a:xfrm>
          <a:prstGeom prst="roundRect">
            <a:avLst>
              <a:gd name="adj" fmla="val 8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502920" y="1234440"/>
            <a:ext cx="94313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QC conjunto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528354" y="1691640"/>
            <a:ext cx="91440" cy="0"/>
          </a:xfrm>
          <a:prstGeom prst="line">
            <a:avLst/>
          </a:prstGeom>
          <a:noFill/>
          <a:ln w="19050">
            <a:solidFill>
              <a:srgbClr val="3A406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656370" y="1234440"/>
            <a:ext cx="1034578" cy="914400"/>
          </a:xfrm>
          <a:prstGeom prst="roundRect">
            <a:avLst>
              <a:gd name="adj" fmla="val 8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1702090" y="1234440"/>
            <a:ext cx="94313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RNA: PCA · ATAC: LSI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27525" y="1691640"/>
            <a:ext cx="91440" cy="0"/>
          </a:xfrm>
          <a:prstGeom prst="line">
            <a:avLst/>
          </a:prstGeom>
          <a:noFill/>
          <a:ln w="19050">
            <a:solidFill>
              <a:srgbClr val="3A406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855541" y="1234440"/>
            <a:ext cx="1034578" cy="914400"/>
          </a:xfrm>
          <a:prstGeom prst="roundRect">
            <a:avLst>
              <a:gd name="adj" fmla="val 8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2901261" y="1234440"/>
            <a:ext cx="94313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WNN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926695" y="1691640"/>
            <a:ext cx="91440" cy="0"/>
          </a:xfrm>
          <a:prstGeom prst="line">
            <a:avLst/>
          </a:prstGeom>
          <a:noFill/>
          <a:ln w="19050">
            <a:solidFill>
              <a:srgbClr val="3A406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054711" y="1234440"/>
            <a:ext cx="1034578" cy="914400"/>
          </a:xfrm>
          <a:prstGeom prst="roundRect">
            <a:avLst>
              <a:gd name="adj" fmla="val 8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4100431" y="1234440"/>
            <a:ext cx="94313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CellTypist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125865" y="1691640"/>
            <a:ext cx="91440" cy="0"/>
          </a:xfrm>
          <a:prstGeom prst="line">
            <a:avLst/>
          </a:prstGeom>
          <a:noFill/>
          <a:ln w="19050">
            <a:solidFill>
              <a:srgbClr val="3A406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5253881" y="1234440"/>
            <a:ext cx="1034578" cy="914400"/>
          </a:xfrm>
          <a:prstGeom prst="roundRect">
            <a:avLst>
              <a:gd name="adj" fmla="val 8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5299601" y="1234440"/>
            <a:ext cx="94313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MultiVI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325035" y="1691640"/>
            <a:ext cx="91440" cy="0"/>
          </a:xfrm>
          <a:prstGeom prst="line">
            <a:avLst/>
          </a:prstGeom>
          <a:noFill/>
          <a:ln w="19050">
            <a:solidFill>
              <a:srgbClr val="3A406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453051" y="1234440"/>
            <a:ext cx="1034578" cy="914400"/>
          </a:xfrm>
          <a:prstGeom prst="roundRect">
            <a:avLst>
              <a:gd name="adj" fmla="val 8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 txBox="1"/>
          <p:nvPr/>
        </p:nvSpPr>
        <p:spPr>
          <a:xfrm>
            <a:off x="6498771" y="1234440"/>
            <a:ext cx="94313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Comparação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524206" y="1691640"/>
            <a:ext cx="91440" cy="0"/>
          </a:xfrm>
          <a:prstGeom prst="line">
            <a:avLst/>
          </a:prstGeom>
          <a:noFill/>
          <a:ln w="19050">
            <a:solidFill>
              <a:srgbClr val="3A406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7652222" y="1234440"/>
            <a:ext cx="1034578" cy="914400"/>
          </a:xfrm>
          <a:prstGeom prst="roundRect">
            <a:avLst>
              <a:gd name="adj" fmla="val 8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 txBox="1"/>
          <p:nvPr/>
        </p:nvSpPr>
        <p:spPr>
          <a:xfrm>
            <a:off x="7697942" y="1234440"/>
            <a:ext cx="94313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Pico–gene</a:t>
            </a:r>
            <a:endParaRPr lang="en-US" sz="1200" dirty="0"/>
          </a:p>
        </p:txBody>
      </p:sp>
      <p:sp>
        <p:nvSpPr>
          <p:cNvPr id="23" name="bloco de código"/>
          <p:cNvSpPr/>
          <p:nvPr/>
        </p:nvSpPr>
        <p:spPr>
          <a:xfrm>
            <a:off x="457200" y="2468880"/>
            <a:ext cx="8229600" cy="1234440"/>
          </a:xfrm>
          <a:prstGeom prst="roundRect">
            <a:avLst>
              <a:gd name="adj" fmla="val 4444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 txBox="1"/>
          <p:nvPr/>
        </p:nvSpPr>
        <p:spPr>
          <a:xfrm>
            <a:off x="594360" y="2560320"/>
            <a:ext cx="7955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6E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mu.pp.neighbors(mdata, key_added="wnn", add_weights_to_modalities=True)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scvi.model.MULTIVI.setup_mudata(mvi, rna_layer="counts", atac_layer="counts",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modalities={"rna_layer": "rna", "atac_layer": "atac"})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modelo = scvi.model.MULTIVI(mvi, n_genes=..., n_regions=...)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457200" y="39319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400" i="1" dirty="0">
                <a:solidFill>
                  <a:schemeClr val="tx2"/>
                </a:solidFill>
              </a:rPr>
              <a:t>≈ 45 min · GPU T4 · o checkpoint .h5mu alimenta o notebook 04</a:t>
            </a:r>
            <a:endParaRPr lang="en-US" sz="1400" dirty="0"/>
          </a:p>
        </p:txBody>
      </p:sp>
      <p:sp>
        <p:nvSpPr>
          <p:cNvPr id="2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8A90A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12344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600" b="1" dirty="0">
                <a:solidFill>
                  <a:srgbClr val="C9CEDD"/>
                </a:solidFill>
              </a:rPr>
              <a:t>Parte B</a:t>
            </a:r>
            <a:endParaRPr lang="en-US" sz="16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Redes regulatórias: TF → enhancer → gene</a:t>
            </a:r>
            <a:endParaRPr lang="en-US" sz="3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eRegulon: três evidências para um trio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463040"/>
            <a:ext cx="1645920" cy="822960"/>
          </a:xfrm>
          <a:prstGeom prst="roundRect">
            <a:avLst>
              <a:gd name="adj" fmla="val 8889"/>
            </a:avLst>
          </a:prstGeom>
          <a:solidFill>
            <a:schemeClr val="accent4"/>
          </a:solidFill>
          <a:ln w="15875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694944" y="1463040"/>
            <a:ext cx="15361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TF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749040" y="1463040"/>
            <a:ext cx="1645920" cy="822960"/>
          </a:xfrm>
          <a:prstGeom prst="roundRect">
            <a:avLst>
              <a:gd name="adj" fmla="val 8889"/>
            </a:avLst>
          </a:prstGeom>
          <a:solidFill>
            <a:schemeClr val="accent2"/>
          </a:solidFill>
          <a:ln w="15875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3803904" y="1463040"/>
            <a:ext cx="15361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enhancer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858000" y="1463040"/>
            <a:ext cx="1645920" cy="822960"/>
          </a:xfrm>
          <a:prstGeom prst="roundRect">
            <a:avLst>
              <a:gd name="adj" fmla="val 8889"/>
            </a:avLst>
          </a:prstGeom>
          <a:solidFill>
            <a:schemeClr val="accent1"/>
          </a:solidFill>
          <a:ln w="15875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6912864" y="1463040"/>
            <a:ext cx="15361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gene-alvo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331720" y="1874520"/>
            <a:ext cx="1371600" cy="0"/>
          </a:xfrm>
          <a:prstGeom prst="line">
            <a:avLst/>
          </a:prstGeom>
          <a:noFill/>
          <a:ln w="19050">
            <a:solidFill>
              <a:srgbClr val="3A406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440680" y="1874520"/>
            <a:ext cx="1371600" cy="0"/>
          </a:xfrm>
          <a:prstGeom prst="line">
            <a:avLst/>
          </a:prstGeom>
          <a:noFill/>
          <a:ln w="19050">
            <a:solidFill>
              <a:srgbClr val="3A406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2286000" y="100584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spcAft>
                <a:spcPts val="600"/>
              </a:spcAft>
              <a:buNone/>
            </a:pPr>
            <a:r>
              <a:rPr lang="en-US" sz="1200" dirty="0">
                <a:solidFill>
                  <a:schemeClr val="tx2"/>
                </a:solidFill>
              </a:rPr>
              <a:t>motivo na sequência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5394960" y="86868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spcAft>
                <a:spcPts val="600"/>
              </a:spcAft>
              <a:buNone/>
            </a:pPr>
            <a:r>
              <a:rPr lang="en-US" sz="1200" dirty="0">
                <a:solidFill>
                  <a:schemeClr val="tx2"/>
                </a:solidFill>
              </a:rPr>
              <a:t>acessibilidade ~</a:t>
            </a:r>
            <a:endParaRPr lang="en-US" sz="1200" dirty="0"/>
          </a:p>
          <a:p>
            <a:pPr marL="0" indent="0" algn="ctr">
              <a:spcAft>
                <a:spcPts val="600"/>
              </a:spcAft>
              <a:buNone/>
            </a:pPr>
            <a:r>
              <a:rPr lang="en-US" sz="1200" dirty="0">
                <a:solidFill>
                  <a:schemeClr val="tx2"/>
                </a:solidFill>
              </a:rPr>
              <a:t>expressão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463040" y="2331720"/>
            <a:ext cx="0" cy="502920"/>
          </a:xfrm>
          <a:prstGeom prst="line">
            <a:avLst/>
          </a:prstGeom>
          <a:noFill/>
          <a:ln w="19050">
            <a:solidFill>
              <a:srgbClr val="3A40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1463040" y="2834640"/>
            <a:ext cx="6217920" cy="0"/>
          </a:xfrm>
          <a:prstGeom prst="line">
            <a:avLst/>
          </a:prstGeom>
          <a:noFill/>
          <a:ln w="19050">
            <a:solidFill>
              <a:srgbClr val="3A40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7680960" y="2834640"/>
            <a:ext cx="0" cy="0"/>
          </a:xfrm>
          <a:prstGeom prst="line">
            <a:avLst/>
          </a:prstGeom>
          <a:noFill/>
          <a:ln w="19050">
            <a:solidFill>
              <a:srgbClr val="3A406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2926080" y="28803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600"/>
              </a:spcAft>
              <a:buNone/>
            </a:pPr>
            <a:r>
              <a:rPr lang="en-US" sz="1200" dirty="0">
                <a:solidFill>
                  <a:schemeClr val="tx2"/>
                </a:solidFill>
              </a:rPr>
              <a:t>expressão do TF ~ expressão do alvo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35661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SCENIC+ (Bravo González-Blas et al., Nat Methods 2023) formaliza o trio com sinal: +/+ (ativador), +/− e −/+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8A90A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Camadas de evidência e onde medir cada uma</a:t>
            </a:r>
            <a:endParaRPr lang="en-US" sz="2600" dirty="0"/>
          </a:p>
        </p:txBody>
      </p:sp>
      <p:sp>
        <p:nvSpPr>
          <p:cNvPr id="3" name="card TF → região"/>
          <p:cNvSpPr/>
          <p:nvPr/>
        </p:nvSpPr>
        <p:spPr>
          <a:xfrm>
            <a:off x="457200" y="1051560"/>
            <a:ext cx="402336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40080" y="123444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1344168"/>
            <a:ext cx="237744" cy="23774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234440" y="1216152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TF → região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801368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Motivos CIS-BP nos picos (snap.tl.add_tf_binding)</a:t>
            </a:r>
            <a:endParaRPr lang="en-US" sz="1400" dirty="0"/>
          </a:p>
        </p:txBody>
      </p:sp>
      <p:sp>
        <p:nvSpPr>
          <p:cNvPr id="8" name="card Região → gene"/>
          <p:cNvSpPr/>
          <p:nvPr/>
        </p:nvSpPr>
        <p:spPr>
          <a:xfrm>
            <a:off x="4663440" y="1051560"/>
            <a:ext cx="402336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4846320" y="1234440"/>
            <a:ext cx="457200" cy="4572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6048" y="1344168"/>
            <a:ext cx="237744" cy="23774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440680" y="1216152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Região → gene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4846320" y="1801368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Correlação + elastic net em metacélulas (add_cor_scores, add_regr_scores)</a:t>
            </a:r>
            <a:endParaRPr lang="en-US" sz="1400" dirty="0"/>
          </a:p>
        </p:txBody>
      </p:sp>
      <p:sp>
        <p:nvSpPr>
          <p:cNvPr id="13" name="card TF → gene"/>
          <p:cNvSpPr/>
          <p:nvPr/>
        </p:nvSpPr>
        <p:spPr>
          <a:xfrm>
            <a:off x="457200" y="2788920"/>
            <a:ext cx="402336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0"/>
          <p:cNvSpPr/>
          <p:nvPr/>
        </p:nvSpPr>
        <p:spPr>
          <a:xfrm>
            <a:off x="640080" y="297180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808" y="3081528"/>
            <a:ext cx="237744" cy="237744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234440" y="2953512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TF → gene</a:t>
            </a:r>
            <a:endParaRPr lang="en-US" sz="1500" dirty="0"/>
          </a:p>
        </p:txBody>
      </p:sp>
      <p:sp>
        <p:nvSpPr>
          <p:cNvPr id="17" name="Text 12"/>
          <p:cNvSpPr txBox="1"/>
          <p:nvPr/>
        </p:nvSpPr>
        <p:spPr>
          <a:xfrm>
            <a:off x="640080" y="3538728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Coexpressão TF–alvo nas metacélulas</a:t>
            </a:r>
            <a:endParaRPr lang="en-US" sz="1400" dirty="0"/>
          </a:p>
        </p:txBody>
      </p:sp>
      <p:sp>
        <p:nvSpPr>
          <p:cNvPr id="18" name="card Atividade do TF"/>
          <p:cNvSpPr/>
          <p:nvPr/>
        </p:nvSpPr>
        <p:spPr>
          <a:xfrm>
            <a:off x="4663440" y="2788920"/>
            <a:ext cx="402336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4"/>
          <p:cNvSpPr/>
          <p:nvPr/>
        </p:nvSpPr>
        <p:spPr>
          <a:xfrm>
            <a:off x="4846320" y="2971800"/>
            <a:ext cx="457200" cy="45720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56048" y="3081528"/>
            <a:ext cx="237744" cy="237744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5440680" y="2953512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Atividade do TF</a:t>
            </a:r>
            <a:endParaRPr lang="en-US" sz="1500" dirty="0"/>
          </a:p>
        </p:txBody>
      </p:sp>
      <p:sp>
        <p:nvSpPr>
          <p:cNvPr id="22" name="Text 16"/>
          <p:cNvSpPr txBox="1"/>
          <p:nvPr/>
        </p:nvSpPr>
        <p:spPr>
          <a:xfrm>
            <a:off x="4846320" y="3538728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decoupler + CollecTRI (~43 mil interações curadas, com sinal)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8A90A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que não rodar o SCENIC+ no Colab gratuito?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5156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600" b="1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3.11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764792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</a:rPr>
              <a:t>versão de Python exigida pelo SCENIC+ (o Colab usa outra)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3291840" y="105156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600" b="1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vários GB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3291840" y="1764792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</a:rPr>
              <a:t>bancos cisTarget de motivos, por genoma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126480" y="105156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600" b="1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dezenas de GB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6126480" y="1764792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</a:rPr>
              <a:t>de RAM para o pipeline completo em dados reais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2606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Solução do curso: construir os mesmos trios com SnapATAC2 + decoupler e, para o SCENIC+ real, um ambiente Python 3.11 isolado:</a:t>
            </a:r>
            <a:endParaRPr lang="en-US" sz="1400" dirty="0"/>
          </a:p>
        </p:txBody>
      </p:sp>
      <p:sp>
        <p:nvSpPr>
          <p:cNvPr id="10" name="bloco de código"/>
          <p:cNvSpPr/>
          <p:nvPr/>
        </p:nvSpPr>
        <p:spPr>
          <a:xfrm>
            <a:off x="457200" y="3200400"/>
            <a:ext cx="8229600" cy="1325880"/>
          </a:xfrm>
          <a:prstGeom prst="roundRect">
            <a:avLst>
              <a:gd name="adj" fmla="val 4138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594360" y="3291840"/>
            <a:ext cx="79552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6E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uv venv -p 3.11 /content/scplus_env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uv pip install --python /content/scplus_env/bin/python "scenicplus @ git+https://github.com/aertslab/scenicplus"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/content/scplus_env/bin/scenicplus init_snakemake --out_dir /content/scplus_pipeline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editar config.yaml (cisTopic, AnnData, cisTarget) → snakemake --cores 8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8A90A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Nosso pipeline leve × SCENIC+</a:t>
            </a:r>
            <a:endParaRPr lang="en-US" sz="26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2048256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Etapa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Notebook 04 (Colab)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SCENIC+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D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Regiões candidatas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D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picos MACS3 / cellranger-arc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D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consenso + tópicos pycisTopic + DARs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D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TF → região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D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varredura de motivos CIS-BP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D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cisTarget + DEM (&gt; 30 mil motivos)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D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Região → gene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D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correlação + elastic net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D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GRNBoost2 + Spearman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D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eRegulon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D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trios filtrados por limiares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D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GSEA dos alvos ranqueados, com sinal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D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Atividade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D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AUCell (decoupler)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D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AUCell em genes e regiões + RSS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D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Validação externa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D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enriquecimento no CollecTRI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D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8A90A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 rede à bancada: priorizar alvos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1920240" cy="548640"/>
          </a:xfrm>
          <a:prstGeom prst="roundRect">
            <a:avLst>
              <a:gd name="adj" fmla="val 13333"/>
            </a:avLst>
          </a:prstGeom>
          <a:solidFill>
            <a:schemeClr val="accent4"/>
          </a:solidFill>
          <a:ln w="15875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512064" y="1143000"/>
            <a:ext cx="18105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Ligação forte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7830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600"/>
              </a:spcAft>
              <a:buNone/>
            </a:pPr>
            <a:r>
              <a:rPr lang="en-US" sz="1300" dirty="0">
                <a:solidFill>
                  <a:schemeClr val="tx2"/>
                </a:solidFill>
              </a:rPr>
              <a:t>cor e regr altos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560320" y="1143000"/>
            <a:ext cx="1920240" cy="548640"/>
          </a:xfrm>
          <a:prstGeom prst="roundRect">
            <a:avLst>
              <a:gd name="adj" fmla="val 13333"/>
            </a:avLst>
          </a:prstGeom>
          <a:solidFill>
            <a:schemeClr val="accent4"/>
          </a:solidFill>
          <a:ln w="15875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2615184" y="1143000"/>
            <a:ext cx="18105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Coexpressão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2606040" y="17830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600"/>
              </a:spcAft>
              <a:buNone/>
            </a:pPr>
            <a:r>
              <a:rPr lang="en-US" sz="1300" dirty="0">
                <a:solidFill>
                  <a:schemeClr val="tx2"/>
                </a:solidFill>
              </a:rPr>
              <a:t>TF e alvo juntos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663440" y="1143000"/>
            <a:ext cx="1920240" cy="548640"/>
          </a:xfrm>
          <a:prstGeom prst="roundRect">
            <a:avLst>
              <a:gd name="adj" fmla="val 13333"/>
            </a:avLst>
          </a:prstGeom>
          <a:solidFill>
            <a:schemeClr val="accent4"/>
          </a:solidFill>
          <a:ln w="15875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4718304" y="1143000"/>
            <a:ext cx="18105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Especificidade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4709160" y="17830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600"/>
              </a:spcAft>
              <a:buNone/>
            </a:pPr>
            <a:r>
              <a:rPr lang="en-US" sz="1300" dirty="0">
                <a:solidFill>
                  <a:schemeClr val="tx2"/>
                </a:solidFill>
              </a:rPr>
              <a:t>região aberta em um tipo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766560" y="1143000"/>
            <a:ext cx="1920240" cy="548640"/>
          </a:xfrm>
          <a:prstGeom prst="roundRect">
            <a:avLst>
              <a:gd name="adj" fmla="val 13333"/>
            </a:avLst>
          </a:prstGeom>
          <a:solidFill>
            <a:schemeClr val="accent4"/>
          </a:solidFill>
          <a:ln w="15875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6821424" y="1143000"/>
            <a:ext cx="18105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Novidade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6812280" y="17830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600"/>
              </a:spcAft>
              <a:buNone/>
            </a:pPr>
            <a:r>
              <a:rPr lang="en-US" sz="1300" dirty="0">
                <a:solidFill>
                  <a:schemeClr val="tx2"/>
                </a:solidFill>
              </a:rPr>
              <a:t>fora do CollecTRI</a:t>
            </a:r>
            <a:endParaRPr lang="en-US" sz="1300" dirty="0"/>
          </a:p>
        </p:txBody>
      </p:sp>
      <p:sp>
        <p:nvSpPr>
          <p:cNvPr id="15" name="card Enhancer"/>
          <p:cNvSpPr/>
          <p:nvPr/>
        </p:nvSpPr>
        <p:spPr>
          <a:xfrm>
            <a:off x="457200" y="2423160"/>
            <a:ext cx="2624328" cy="2057400"/>
          </a:xfrm>
          <a:prstGeom prst="roundRect">
            <a:avLst>
              <a:gd name="adj" fmla="val 355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40080" y="2606040"/>
            <a:ext cx="457200" cy="45720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2715768"/>
            <a:ext cx="237744" cy="237744"/>
          </a:xfrm>
          <a:prstGeom prst="rect">
            <a:avLst/>
          </a:prstGeom>
        </p:spPr>
      </p:pic>
      <p:sp>
        <p:nvSpPr>
          <p:cNvPr id="18" name="Text 15"/>
          <p:cNvSpPr txBox="1"/>
          <p:nvPr/>
        </p:nvSpPr>
        <p:spPr>
          <a:xfrm>
            <a:off x="1234440" y="2587752"/>
            <a:ext cx="17099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Enhancer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640080" y="3172968"/>
            <a:ext cx="225856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CRISPRi/CRISPRa no pico; ensaio repórter (luciferase, MPRA)</a:t>
            </a:r>
            <a:endParaRPr lang="en-US" sz="1400" dirty="0"/>
          </a:p>
        </p:txBody>
      </p:sp>
      <p:sp>
        <p:nvSpPr>
          <p:cNvPr id="20" name="card Ligação do TF"/>
          <p:cNvSpPr/>
          <p:nvPr/>
        </p:nvSpPr>
        <p:spPr>
          <a:xfrm>
            <a:off x="3264408" y="2423160"/>
            <a:ext cx="2624328" cy="2057400"/>
          </a:xfrm>
          <a:prstGeom prst="roundRect">
            <a:avLst>
              <a:gd name="adj" fmla="val 355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8"/>
          <p:cNvSpPr/>
          <p:nvPr/>
        </p:nvSpPr>
        <p:spPr>
          <a:xfrm>
            <a:off x="3447288" y="2606040"/>
            <a:ext cx="457200" cy="45720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7016" y="2715768"/>
            <a:ext cx="237744" cy="237744"/>
          </a:xfrm>
          <a:prstGeom prst="rect">
            <a:avLst/>
          </a:prstGeom>
        </p:spPr>
      </p:pic>
      <p:sp>
        <p:nvSpPr>
          <p:cNvPr id="23" name="Text 19"/>
          <p:cNvSpPr txBox="1"/>
          <p:nvPr/>
        </p:nvSpPr>
        <p:spPr>
          <a:xfrm>
            <a:off x="4041648" y="2587752"/>
            <a:ext cx="17099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Ligação do TF</a:t>
            </a:r>
            <a:endParaRPr lang="en-US" sz="1500" dirty="0"/>
          </a:p>
        </p:txBody>
      </p:sp>
      <p:sp>
        <p:nvSpPr>
          <p:cNvPr id="24" name="Text 20"/>
          <p:cNvSpPr txBox="1"/>
          <p:nvPr/>
        </p:nvSpPr>
        <p:spPr>
          <a:xfrm>
            <a:off x="3447288" y="3172968"/>
            <a:ext cx="225856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CUT&amp;RUN / ChIP-seq do TF; footprinting (TOBIAS)</a:t>
            </a:r>
            <a:endParaRPr lang="en-US" sz="1400" dirty="0"/>
          </a:p>
        </p:txBody>
      </p:sp>
      <p:sp>
        <p:nvSpPr>
          <p:cNvPr id="25" name="card Função"/>
          <p:cNvSpPr/>
          <p:nvPr/>
        </p:nvSpPr>
        <p:spPr>
          <a:xfrm>
            <a:off x="6071616" y="2423160"/>
            <a:ext cx="2624328" cy="2057400"/>
          </a:xfrm>
          <a:prstGeom prst="roundRect">
            <a:avLst>
              <a:gd name="adj" fmla="val 355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2"/>
          <p:cNvSpPr/>
          <p:nvPr/>
        </p:nvSpPr>
        <p:spPr>
          <a:xfrm>
            <a:off x="6254496" y="2606040"/>
            <a:ext cx="457200" cy="45720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64224" y="2715768"/>
            <a:ext cx="237744" cy="237744"/>
          </a:xfrm>
          <a:prstGeom prst="rect">
            <a:avLst/>
          </a:prstGeom>
        </p:spPr>
      </p:pic>
      <p:sp>
        <p:nvSpPr>
          <p:cNvPr id="28" name="Text 23"/>
          <p:cNvSpPr txBox="1"/>
          <p:nvPr/>
        </p:nvSpPr>
        <p:spPr>
          <a:xfrm>
            <a:off x="6848856" y="2587752"/>
            <a:ext cx="17099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Função</a:t>
            </a:r>
            <a:endParaRPr lang="en-US" sz="1500" dirty="0"/>
          </a:p>
        </p:txBody>
      </p:sp>
      <p:sp>
        <p:nvSpPr>
          <p:cNvPr id="29" name="Text 24"/>
          <p:cNvSpPr txBox="1"/>
          <p:nvPr/>
        </p:nvSpPr>
        <p:spPr>
          <a:xfrm>
            <a:off x="6254496" y="3172968"/>
            <a:ext cx="225856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Knockdown do TF → queda do alvo (RT-qPCR, Perturb-seq)</a:t>
            </a:r>
            <a:endParaRPr lang="en-US" sz="1400" dirty="0"/>
          </a:p>
        </p:txBody>
      </p:sp>
      <p:sp>
        <p:nvSpPr>
          <p:cNvPr id="3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8A90A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Prática 4 · notebook 04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1219200" cy="914400"/>
          </a:xfrm>
          <a:prstGeom prst="roundRect">
            <a:avLst>
              <a:gd name="adj" fmla="val 8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502920" y="1234440"/>
            <a:ext cx="112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Atividade TF (CollecTRI)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712976" y="1691640"/>
            <a:ext cx="109728" cy="0"/>
          </a:xfrm>
          <a:prstGeom prst="line">
            <a:avLst/>
          </a:prstGeom>
          <a:noFill/>
          <a:ln w="19050">
            <a:solidFill>
              <a:srgbClr val="3A406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859280" y="1234440"/>
            <a:ext cx="1219200" cy="914400"/>
          </a:xfrm>
          <a:prstGeom prst="roundRect">
            <a:avLst>
              <a:gd name="adj" fmla="val 8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1905000" y="1234440"/>
            <a:ext cx="112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Metacélulas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115056" y="1691640"/>
            <a:ext cx="109728" cy="0"/>
          </a:xfrm>
          <a:prstGeom prst="line">
            <a:avLst/>
          </a:prstGeom>
          <a:noFill/>
          <a:ln w="19050">
            <a:solidFill>
              <a:srgbClr val="3A406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261360" y="1234440"/>
            <a:ext cx="1219200" cy="914400"/>
          </a:xfrm>
          <a:prstGeom prst="roundRect">
            <a:avLst>
              <a:gd name="adj" fmla="val 8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3307080" y="1234440"/>
            <a:ext cx="112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Rede região→gene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17136" y="1691640"/>
            <a:ext cx="109728" cy="0"/>
          </a:xfrm>
          <a:prstGeom prst="line">
            <a:avLst/>
          </a:prstGeom>
          <a:noFill/>
          <a:ln w="19050">
            <a:solidFill>
              <a:srgbClr val="3A406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663440" y="1234440"/>
            <a:ext cx="1219200" cy="914400"/>
          </a:xfrm>
          <a:prstGeom prst="roundRect">
            <a:avLst>
              <a:gd name="adj" fmla="val 8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4709160" y="1234440"/>
            <a:ext cx="112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TF→região (motivos)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919216" y="1691640"/>
            <a:ext cx="109728" cy="0"/>
          </a:xfrm>
          <a:prstGeom prst="line">
            <a:avLst/>
          </a:prstGeom>
          <a:noFill/>
          <a:ln w="19050">
            <a:solidFill>
              <a:srgbClr val="3A406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065520" y="1234440"/>
            <a:ext cx="1219200" cy="914400"/>
          </a:xfrm>
          <a:prstGeom prst="roundRect">
            <a:avLst>
              <a:gd name="adj" fmla="val 8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6111240" y="1234440"/>
            <a:ext cx="112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eRegulons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321296" y="1691640"/>
            <a:ext cx="109728" cy="0"/>
          </a:xfrm>
          <a:prstGeom prst="line">
            <a:avLst/>
          </a:prstGeom>
          <a:noFill/>
          <a:ln w="19050">
            <a:solidFill>
              <a:srgbClr val="3A406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7467600" y="1234440"/>
            <a:ext cx="1219200" cy="914400"/>
          </a:xfrm>
          <a:prstGeom prst="roundRect">
            <a:avLst>
              <a:gd name="adj" fmla="val 8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 txBox="1"/>
          <p:nvPr/>
        </p:nvSpPr>
        <p:spPr>
          <a:xfrm>
            <a:off x="7513320" y="1234440"/>
            <a:ext cx="112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Validação + AUCell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2514600"/>
            <a:ext cx="8229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Nos testes com dados sintéticos, o pipeline recupera os trios plantados: SPI1/CEBPB em monócitos, PAX5/EBF1 em B, TCF7 em T CD4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Saídas: trios TF→região→gene, eRegulons, alvos priorizados (.csv)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Exercício: construa eRegulons repressores (cor TF–alvo negativa)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8A90A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12344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600" b="1" dirty="0">
                <a:solidFill>
                  <a:srgbClr val="C9CEDD"/>
                </a:solidFill>
              </a:rPr>
              <a:t>Parte C</a:t>
            </a:r>
            <a:endParaRPr lang="en-US" sz="16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Reprodutibilidade e escalabilidade</a:t>
            </a:r>
            <a:endParaRPr lang="en-US" sz="36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D3247E3-F9E2-9205-3F60-BCA7BE686E74}"/>
              </a:ext>
            </a:extLst>
          </p:cNvPr>
          <p:cNvSpPr txBox="1"/>
          <p:nvPr/>
        </p:nvSpPr>
        <p:spPr>
          <a:xfrm>
            <a:off x="2286000" y="2126656"/>
            <a:ext cx="4572000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</a:t>
            </a:r>
            <a:r>
              <a:rPr lang="en-US" sz="2600" b="1" dirty="0" err="1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</a:t>
            </a:r>
            <a:r>
              <a:rPr 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2600" b="1" dirty="0" err="1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muda</a:t>
            </a:r>
            <a:r>
              <a:rPr 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2600" b="1" dirty="0" err="1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quando</a:t>
            </a:r>
            <a:r>
              <a:rPr 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as </a:t>
            </a:r>
            <a:r>
              <a:rPr lang="en-US" sz="2600" b="1" dirty="0" err="1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modalidades</a:t>
            </a:r>
            <a:r>
              <a:rPr 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2600" b="1" dirty="0" err="1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são</a:t>
            </a:r>
            <a:r>
              <a:rPr 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2600" b="1" dirty="0" err="1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pareadas</a:t>
            </a:r>
            <a:endParaRPr lang="en-US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Seis camadas de reprodutibilidade</a:t>
            </a:r>
            <a:endParaRPr lang="en-US" sz="2600" dirty="0"/>
          </a:p>
        </p:txBody>
      </p:sp>
      <p:sp>
        <p:nvSpPr>
          <p:cNvPr id="3" name="card Ambiente"/>
          <p:cNvSpPr/>
          <p:nvPr/>
        </p:nvSpPr>
        <p:spPr>
          <a:xfrm>
            <a:off x="457200" y="1051560"/>
            <a:ext cx="2624328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40080" y="1234440"/>
            <a:ext cx="457200" cy="45720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1344168"/>
            <a:ext cx="237744" cy="23774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234440" y="1216152"/>
            <a:ext cx="17099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Ambiente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801368"/>
            <a:ext cx="22585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versões fixadas, pip freeze, containers</a:t>
            </a:r>
            <a:endParaRPr lang="en-US" sz="1400" dirty="0"/>
          </a:p>
        </p:txBody>
      </p:sp>
      <p:sp>
        <p:nvSpPr>
          <p:cNvPr id="8" name="card Aleatoriedade"/>
          <p:cNvSpPr/>
          <p:nvPr/>
        </p:nvSpPr>
        <p:spPr>
          <a:xfrm>
            <a:off x="3264408" y="1051560"/>
            <a:ext cx="2624328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3447288" y="1234440"/>
            <a:ext cx="457200" cy="45720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7016" y="1344168"/>
            <a:ext cx="237744" cy="23774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041648" y="1216152"/>
            <a:ext cx="17099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Aleatoriedade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3447288" y="1801368"/>
            <a:ext cx="22585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uma SEED; determinismo do PyTorch</a:t>
            </a:r>
            <a:endParaRPr lang="en-US" sz="1400" dirty="0"/>
          </a:p>
        </p:txBody>
      </p:sp>
      <p:sp>
        <p:nvSpPr>
          <p:cNvPr id="13" name="card Parâmetros"/>
          <p:cNvSpPr/>
          <p:nvPr/>
        </p:nvSpPr>
        <p:spPr>
          <a:xfrm>
            <a:off x="6071616" y="1051560"/>
            <a:ext cx="2624328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0"/>
          <p:cNvSpPr/>
          <p:nvPr/>
        </p:nvSpPr>
        <p:spPr>
          <a:xfrm>
            <a:off x="6254496" y="1234440"/>
            <a:ext cx="457200" cy="45720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64224" y="1344168"/>
            <a:ext cx="237744" cy="237744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848856" y="1216152"/>
            <a:ext cx="17099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Parâmetros</a:t>
            </a:r>
            <a:endParaRPr lang="en-US" sz="1500" dirty="0"/>
          </a:p>
        </p:txBody>
      </p:sp>
      <p:sp>
        <p:nvSpPr>
          <p:cNvPr id="17" name="Text 12"/>
          <p:cNvSpPr txBox="1"/>
          <p:nvPr/>
        </p:nvSpPr>
        <p:spPr>
          <a:xfrm>
            <a:off x="6254496" y="1801368"/>
            <a:ext cx="22585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célula parameters + papermill</a:t>
            </a:r>
            <a:endParaRPr lang="en-US" sz="1400" dirty="0"/>
          </a:p>
        </p:txBody>
      </p:sp>
      <p:sp>
        <p:nvSpPr>
          <p:cNvPr id="18" name="card Dados"/>
          <p:cNvSpPr/>
          <p:nvPr/>
        </p:nvSpPr>
        <p:spPr>
          <a:xfrm>
            <a:off x="457200" y="2788920"/>
            <a:ext cx="2624328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4"/>
          <p:cNvSpPr/>
          <p:nvPr/>
        </p:nvSpPr>
        <p:spPr>
          <a:xfrm>
            <a:off x="640080" y="2971800"/>
            <a:ext cx="457200" cy="45720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9808" y="3081528"/>
            <a:ext cx="237744" cy="237744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234440" y="2953512"/>
            <a:ext cx="17099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Dados</a:t>
            </a:r>
            <a:endParaRPr lang="en-US" sz="1500" dirty="0"/>
          </a:p>
        </p:txBody>
      </p:sp>
      <p:sp>
        <p:nvSpPr>
          <p:cNvPr id="22" name="Text 16"/>
          <p:cNvSpPr txBox="1"/>
          <p:nvPr/>
        </p:nvSpPr>
        <p:spPr>
          <a:xfrm>
            <a:off x="640080" y="3538728"/>
            <a:ext cx="22585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checksums MD5/SHA256, manifesto</a:t>
            </a:r>
            <a:endParaRPr lang="en-US" sz="1400" dirty="0"/>
          </a:p>
        </p:txBody>
      </p:sp>
      <p:sp>
        <p:nvSpPr>
          <p:cNvPr id="23" name="card Orquestração"/>
          <p:cNvSpPr/>
          <p:nvPr/>
        </p:nvSpPr>
        <p:spPr>
          <a:xfrm>
            <a:off x="3264408" y="2788920"/>
            <a:ext cx="2624328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18"/>
          <p:cNvSpPr/>
          <p:nvPr/>
        </p:nvSpPr>
        <p:spPr>
          <a:xfrm>
            <a:off x="3447288" y="2971800"/>
            <a:ext cx="457200" cy="45720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57016" y="3081528"/>
            <a:ext cx="237744" cy="237744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4041648" y="2953512"/>
            <a:ext cx="17099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Orquestração</a:t>
            </a:r>
            <a:endParaRPr lang="en-US" sz="1500" dirty="0"/>
          </a:p>
        </p:txBody>
      </p:sp>
      <p:sp>
        <p:nvSpPr>
          <p:cNvPr id="27" name="Text 20"/>
          <p:cNvSpPr txBox="1"/>
          <p:nvPr/>
        </p:nvSpPr>
        <p:spPr>
          <a:xfrm>
            <a:off x="3447288" y="3538728"/>
            <a:ext cx="22585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Snakemake / Nextflow</a:t>
            </a:r>
            <a:endParaRPr lang="en-US" sz="1400" dirty="0"/>
          </a:p>
        </p:txBody>
      </p:sp>
      <p:sp>
        <p:nvSpPr>
          <p:cNvPr id="28" name="card Publicação"/>
          <p:cNvSpPr/>
          <p:nvPr/>
        </p:nvSpPr>
        <p:spPr>
          <a:xfrm>
            <a:off x="6071616" y="2788920"/>
            <a:ext cx="2624328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2"/>
          <p:cNvSpPr/>
          <p:nvPr/>
        </p:nvSpPr>
        <p:spPr>
          <a:xfrm>
            <a:off x="6254496" y="2971800"/>
            <a:ext cx="457200" cy="45720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64224" y="3081528"/>
            <a:ext cx="237744" cy="237744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6848856" y="2953512"/>
            <a:ext cx="17099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Publicação</a:t>
            </a:r>
            <a:endParaRPr lang="en-US" sz="1500" dirty="0"/>
          </a:p>
        </p:txBody>
      </p:sp>
      <p:sp>
        <p:nvSpPr>
          <p:cNvPr id="32" name="Text 24"/>
          <p:cNvSpPr txBox="1"/>
          <p:nvPr/>
        </p:nvSpPr>
        <p:spPr>
          <a:xfrm>
            <a:off x="6254496" y="3538728"/>
            <a:ext cx="22585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GEO, Zenodo, CELLxGENE, DOI</a:t>
            </a:r>
            <a:endParaRPr lang="en-US" sz="1400" dirty="0"/>
          </a:p>
        </p:txBody>
      </p:sp>
      <p:sp>
        <p:nvSpPr>
          <p:cNvPr id="3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8A90A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Sementes: mesma semente, mesmo resultado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8872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4000" b="1" dirty="0">
                <a:solidFill>
                  <a:schemeClr val="accent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ARI 1,000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901952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</a:rPr>
              <a:t>Leiden com a semente 0, rodado duas vezes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4754880" y="118872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4000" b="1" dirty="0">
                <a:solidFill>
                  <a:schemeClr val="accent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ARI 0,967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4754880" y="1901952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</a:rPr>
              <a:t>semente 0 × semente 1, mesmo dado (pbmc68k_reduced)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880360"/>
            <a:ext cx="8229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Reporte a semente; para conclusões críticas, repita com 3 a 5 sementes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No GPU, algumas operações do PyTorch não são determinísticas mesmo com semente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Registre junto: versões, número de épocas, limiares de QC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8A90A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 notebook ao pipeline: Snakemake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2103120"/>
            <a:ext cx="1188720" cy="640080"/>
          </a:xfrm>
          <a:prstGeom prst="roundRect">
            <a:avLst>
              <a:gd name="adj" fmla="val 11429"/>
            </a:avLst>
          </a:prstGeom>
          <a:solidFill>
            <a:schemeClr val="accent5"/>
          </a:solidFill>
          <a:ln w="15875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512064" y="2103120"/>
            <a:ext cx="10789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baixar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920240" y="2103120"/>
            <a:ext cx="1188720" cy="640080"/>
          </a:xfrm>
          <a:prstGeom prst="roundRect">
            <a:avLst>
              <a:gd name="adj" fmla="val 11429"/>
            </a:avLst>
          </a:prstGeom>
          <a:solidFill>
            <a:schemeClr val="accent5"/>
          </a:solidFill>
          <a:ln w="15875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1975104" y="2103120"/>
            <a:ext cx="10789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qc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383280" y="2103120"/>
            <a:ext cx="1280160" cy="640080"/>
          </a:xfrm>
          <a:prstGeom prst="roundRect">
            <a:avLst>
              <a:gd name="adj" fmla="val 11429"/>
            </a:avLst>
          </a:prstGeom>
          <a:solidFill>
            <a:schemeClr val="accent5"/>
          </a:solidFill>
          <a:ln w="15875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3438144" y="2103120"/>
            <a:ext cx="11704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normalizar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983480" y="1371600"/>
            <a:ext cx="1371600" cy="640080"/>
          </a:xfrm>
          <a:prstGeom prst="roundRect">
            <a:avLst>
              <a:gd name="adj" fmla="val 11429"/>
            </a:avLst>
          </a:prstGeom>
          <a:solidFill>
            <a:schemeClr val="accent5"/>
          </a:solidFill>
          <a:ln w="15875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5038344" y="1371600"/>
            <a:ext cx="12618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cluster 0.5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983480" y="2834640"/>
            <a:ext cx="1371600" cy="640080"/>
          </a:xfrm>
          <a:prstGeom prst="roundRect">
            <a:avLst>
              <a:gd name="adj" fmla="val 11429"/>
            </a:avLst>
          </a:prstGeom>
          <a:solidFill>
            <a:schemeClr val="accent5"/>
          </a:solidFill>
          <a:ln w="15875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5038344" y="2834640"/>
            <a:ext cx="12618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cluster 1.0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629400" y="1371600"/>
            <a:ext cx="914400" cy="640080"/>
          </a:xfrm>
          <a:prstGeom prst="roundRect">
            <a:avLst>
              <a:gd name="adj" fmla="val 11429"/>
            </a:avLst>
          </a:prstGeom>
          <a:solidFill>
            <a:schemeClr val="accent5"/>
          </a:solidFill>
          <a:ln w="15875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6684264" y="1371600"/>
            <a:ext cx="804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marc.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629400" y="2834640"/>
            <a:ext cx="914400" cy="640080"/>
          </a:xfrm>
          <a:prstGeom prst="roundRect">
            <a:avLst>
              <a:gd name="adj" fmla="val 11429"/>
            </a:avLst>
          </a:prstGeom>
          <a:solidFill>
            <a:schemeClr val="accent5"/>
          </a:solidFill>
          <a:ln w="15875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6684264" y="2834640"/>
            <a:ext cx="804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marc.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772400" y="2103120"/>
            <a:ext cx="914400" cy="640080"/>
          </a:xfrm>
          <a:prstGeom prst="roundRect">
            <a:avLst>
              <a:gd name="adj" fmla="val 11429"/>
            </a:avLst>
          </a:prstGeom>
          <a:solidFill>
            <a:schemeClr val="tx1"/>
          </a:solidFill>
          <a:ln w="15875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7827264" y="2103120"/>
            <a:ext cx="804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relatório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1664208" y="2423160"/>
            <a:ext cx="237744" cy="0"/>
          </a:xfrm>
          <a:prstGeom prst="line">
            <a:avLst/>
          </a:prstGeom>
          <a:noFill/>
          <a:ln w="19050">
            <a:solidFill>
              <a:srgbClr val="3A406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3127248" y="2423160"/>
            <a:ext cx="237744" cy="0"/>
          </a:xfrm>
          <a:prstGeom prst="line">
            <a:avLst/>
          </a:prstGeom>
          <a:noFill/>
          <a:ln w="19050">
            <a:solidFill>
              <a:srgbClr val="3A406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681728" y="2286000"/>
            <a:ext cx="283464" cy="0"/>
          </a:xfrm>
          <a:prstGeom prst="line">
            <a:avLst/>
          </a:prstGeom>
          <a:noFill/>
          <a:ln w="19050">
            <a:solidFill>
              <a:srgbClr val="3A406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681728" y="2560320"/>
            <a:ext cx="283464" cy="548640"/>
          </a:xfrm>
          <a:prstGeom prst="line">
            <a:avLst/>
          </a:prstGeom>
          <a:noFill/>
          <a:ln w="19050">
            <a:solidFill>
              <a:srgbClr val="3A406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6373368" y="1691640"/>
            <a:ext cx="237744" cy="0"/>
          </a:xfrm>
          <a:prstGeom prst="line">
            <a:avLst/>
          </a:prstGeom>
          <a:noFill/>
          <a:ln w="19050">
            <a:solidFill>
              <a:srgbClr val="3A406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6373368" y="3154680"/>
            <a:ext cx="237744" cy="0"/>
          </a:xfrm>
          <a:prstGeom prst="line">
            <a:avLst/>
          </a:prstGeom>
          <a:noFill/>
          <a:ln w="19050">
            <a:solidFill>
              <a:srgbClr val="3A406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7562088" y="1691640"/>
            <a:ext cx="192024" cy="548640"/>
          </a:xfrm>
          <a:prstGeom prst="line">
            <a:avLst/>
          </a:prstGeom>
          <a:noFill/>
          <a:ln w="19050">
            <a:solidFill>
              <a:srgbClr val="3A406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7562088" y="3154680"/>
            <a:ext cx="192024" cy="0"/>
          </a:xfrm>
          <a:prstGeom prst="line">
            <a:avLst/>
          </a:prstGeom>
          <a:noFill/>
          <a:ln w="19050">
            <a:solidFill>
              <a:srgbClr val="3A406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7" name="bloco de código"/>
          <p:cNvSpPr/>
          <p:nvPr/>
        </p:nvSpPr>
        <p:spPr>
          <a:xfrm>
            <a:off x="457200" y="3703320"/>
            <a:ext cx="8229600" cy="868680"/>
          </a:xfrm>
          <a:prstGeom prst="roundRect">
            <a:avLst>
              <a:gd name="adj" fmla="val 6316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 txBox="1"/>
          <p:nvPr/>
        </p:nvSpPr>
        <p:spPr>
          <a:xfrm>
            <a:off x="594360" y="3794760"/>
            <a:ext cx="7955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6E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rule cluster: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input: "resultados/{amostra}/norm.h5ad"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output: "resultados/{amostra}/cluster_res{res}.csv"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457200" y="105156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Só refaz o que mudou · paralelo · SLURM/nuvem · conda/containers por regra</a:t>
            </a:r>
            <a:endParaRPr lang="en-US" sz="1400" dirty="0"/>
          </a:p>
        </p:txBody>
      </p:sp>
      <p:sp>
        <p:nvSpPr>
          <p:cNvPr id="3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8A90A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Snakemake ou Nextflow?</a:t>
            </a:r>
            <a:endParaRPr lang="en-US" sz="26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1847088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Snakemake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Nextflow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D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Linguagem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D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D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Groovy (DSL2)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D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D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regras por arquivos (puxa do alvo)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D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processos ligados por canais (empurra dados)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D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Comunidade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D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Snakemake Workflow Catalog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D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nf-core (ex.: nf-core/scrnaseq)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D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Execução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D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local, SLURM, nuvem, containers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D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local, SLURM, AWS/Google Batch, containers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D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Neste repo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D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pipelines/snakemake (testado)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D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pipelines/nextflow (esboço DSL2)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35204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Regra prática: explore em notebook, produza em pipeline.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8A90A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Publicação FAIR: o que vai para onde</a:t>
            </a:r>
            <a:endParaRPr lang="en-US" sz="26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1755648"/>
        </p:xfrm>
        <a:graphic>
          <a:graphicData uri="http://schemas.openxmlformats.org/drawingml/2006/table">
            <a:tbl>
              <a:tblPr/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quê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Onde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Não esqueça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D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FASTQ / BAM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D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GEO + SRA, ArrayExpress + ENA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D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química 10x, versão do Cell Ranger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D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Matrizes processadas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D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GEO, Zenodo (DOI), CELLxGENE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D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contagens cruas em layers["counts"]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D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Código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D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GitHub + release no Zenodo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D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README, LICENSE, CITATION.cff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D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Ambiente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D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requirements-lock, environment.yml, Docker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D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versões de Python e CUDA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D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Parâmetros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D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config.yaml, notebooks executados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D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sementes, limiares, referência (GRCh38-2024-A)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35204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400" i="1" dirty="0">
                <a:solidFill>
                  <a:schemeClr val="tx2"/>
                </a:solidFill>
              </a:rPr>
              <a:t>Findable · Accessible · Interoperable · Reusable (Wilkinson et al., Sci Data 2016)</a:t>
            </a:r>
            <a:endParaRPr lang="en-US" sz="1400" dirty="0"/>
          </a:p>
        </p:txBody>
      </p:sp>
      <p:sp>
        <p:nvSpPr>
          <p:cNvPr id="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8A90A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dirty="0" err="1"/>
              <a:t>Resumo</a:t>
            </a:r>
            <a:r>
              <a:rPr 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: seus dados, do Cell Ranger à análise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5156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3000" b="1" dirty="0">
                <a:solidFill>
                  <a:schemeClr val="accent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1.100.132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764792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</a:rPr>
              <a:t>barcodes na matriz raw (GSE293526)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33172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3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1.716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3044952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</a:rPr>
              <a:t>células chamadas pelo Cell Ranger 9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361188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3000" b="1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Krt13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4325112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</a:rPr>
              <a:t>gene nº 1 da "sopa" de RNA ambiente</a:t>
            </a:r>
            <a:endParaRPr lang="en-US" sz="1200" dirty="0"/>
          </a:p>
        </p:txBody>
      </p:sp>
      <p:sp>
        <p:nvSpPr>
          <p:cNvPr id="9" name="card Lição do notebook 06"/>
          <p:cNvSpPr/>
          <p:nvPr/>
        </p:nvSpPr>
        <p:spPr>
          <a:xfrm>
            <a:off x="3474720" y="1097280"/>
            <a:ext cx="5212080" cy="3383280"/>
          </a:xfrm>
          <a:prstGeom prst="roundRect">
            <a:avLst>
              <a:gd name="adj" fmla="val 216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657600" y="1280160"/>
            <a:ext cx="457200" cy="45720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67328" y="1389888"/>
            <a:ext cx="237744" cy="237744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4251960" y="1261872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Lição do notebook 06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3657600" y="1847088"/>
            <a:ext cx="484632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2"/>
                </a:solidFill>
              </a:rPr>
              <a:t>No epitélio lingual, o RNA ambiente é dominado por marcadores do próprio epitélio (Krt13, Krt14, Krt4).</a:t>
            </a:r>
            <a:endParaRPr lang="en-US" sz="15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2"/>
                </a:solidFill>
              </a:rPr>
              <a:t>Quando o </a:t>
            </a:r>
            <a:r>
              <a:rPr lang="en-US" sz="1500" dirty="0" err="1">
                <a:solidFill>
                  <a:schemeClr val="tx2"/>
                </a:solidFill>
              </a:rPr>
              <a:t>ruido</a:t>
            </a:r>
            <a:r>
              <a:rPr lang="en-US" sz="1500" dirty="0">
                <a:solidFill>
                  <a:schemeClr val="tx2"/>
                </a:solidFill>
              </a:rPr>
              <a:t> se parece com as células, a descontaminação (scAR, CellBender, SoupX) pode apagar sinal real.</a:t>
            </a:r>
            <a:endParaRPr lang="en-US" sz="15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2"/>
                </a:solidFill>
              </a:rPr>
              <a:t>O notebook mede quanto foi removido e decide com uma regra explícita.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8A90A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1E0B7D-8487-6483-9E1B-A0E4F39606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454BE8CF-1554-BE80-D277-E74CA923E5EE}"/>
              </a:ext>
            </a:extLst>
          </p:cNvPr>
          <p:cNvSpPr>
            <a:spLocks noGrp="1"/>
          </p:cNvSpPr>
          <p:nvPr>
            <p:ph type="body" idx="100" hasCustomPrompt="1"/>
          </p:nvPr>
        </p:nvSpPr>
        <p:spPr>
          <a:xfrm>
            <a:off x="548640" y="12344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600" b="1" dirty="0" err="1">
                <a:solidFill>
                  <a:srgbClr val="C9CEDD"/>
                </a:solidFill>
              </a:rPr>
              <a:t>Parte</a:t>
            </a:r>
            <a:r>
              <a:rPr lang="en-US" sz="1600" b="1" dirty="0">
                <a:solidFill>
                  <a:srgbClr val="C9CEDD"/>
                </a:solidFill>
              </a:rPr>
              <a:t> D</a:t>
            </a:r>
            <a:endParaRPr lang="en-US" sz="1600" dirty="0"/>
          </a:p>
        </p:txBody>
      </p:sp>
      <p:sp>
        <p:nvSpPr>
          <p:cNvPr id="3" name="Text 0">
            <a:extLst>
              <a:ext uri="{FF2B5EF4-FFF2-40B4-BE49-F238E27FC236}">
                <a16:creationId xmlns:a16="http://schemas.microsoft.com/office/drawing/2014/main" id="{5E2A038C-C22D-A960-7B27-704FB1145E1E}"/>
              </a:ext>
            </a:extLst>
          </p:cNvPr>
          <p:cNvSpPr>
            <a:spLocks noGrp="1"/>
          </p:cNvSpPr>
          <p:nvPr>
            <p:ph type="title" idx="101" hasCustomPrompt="1"/>
          </p:nvPr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Bonus – </a:t>
            </a:r>
            <a:r>
              <a:rPr lang="en-US" sz="3600" b="1" dirty="0" err="1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onde</a:t>
            </a:r>
            <a:r>
              <a:rPr lang="en-US" sz="3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encontrar dados de single cell, </a:t>
            </a:r>
            <a:r>
              <a:rPr lang="en-US" sz="3600" b="1" dirty="0" err="1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tutoriais</a:t>
            </a:r>
            <a:r>
              <a:rPr lang="en-US" sz="3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e </a:t>
            </a:r>
            <a:r>
              <a:rPr lang="en-US" sz="3600" b="1" dirty="0" err="1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mais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313570968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CEE513-1FCA-B39D-F1B9-9EF2E8BD8C5B}"/>
              </a:ext>
            </a:extLst>
          </p:cNvPr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rPr lang="en-US" dirty="0"/>
              <a:t>Onde encontrar dados </a:t>
            </a:r>
            <a:r>
              <a:rPr lang="en-US" dirty="0" err="1"/>
              <a:t>publicos</a:t>
            </a:r>
            <a:r>
              <a:rPr lang="en-US" dirty="0"/>
              <a:t>: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58D1DBC-C69A-A685-2969-F0B7CA11183F}"/>
              </a:ext>
            </a:extLst>
          </p:cNvPr>
          <p:cNvSpPr txBox="1"/>
          <p:nvPr/>
        </p:nvSpPr>
        <p:spPr>
          <a:xfrm>
            <a:off x="208105" y="964850"/>
            <a:ext cx="8809771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linkClick r:id="rId2"/>
              </a:rPr>
              <a:t>https://cellxgene.cziscience.com/</a:t>
            </a:r>
            <a:endParaRPr lang="en-US" dirty="0"/>
          </a:p>
          <a:p>
            <a:r>
              <a:rPr lang="en-US" dirty="0">
                <a:hlinkClick r:id="rId3"/>
              </a:rPr>
              <a:t>https://singlecell.broadinstitute.org/single_cell</a:t>
            </a:r>
            <a:endParaRPr lang="en-US" dirty="0"/>
          </a:p>
          <a:p>
            <a:r>
              <a:rPr lang="en-US" dirty="0">
                <a:hlinkClick r:id="rId4"/>
              </a:rPr>
              <a:t>https://brain-map.org/our-research/cell-types-taxonomies/cell-types-database-rna-seq-data</a:t>
            </a:r>
            <a:endParaRPr lang="en-US" dirty="0"/>
          </a:p>
          <a:p>
            <a:r>
              <a:rPr lang="en-US" dirty="0">
                <a:hlinkClick r:id="rId5"/>
              </a:rPr>
              <a:t>https://www.nygen.io/resources/blog/public-single-cell-rna-seq-databases</a:t>
            </a:r>
            <a:endParaRPr lang="en-US" dirty="0"/>
          </a:p>
          <a:p>
            <a:r>
              <a:rPr lang="en-US" dirty="0">
                <a:hlinkClick r:id="rId6"/>
              </a:rPr>
              <a:t>https://data.humancellatlas.org/</a:t>
            </a:r>
            <a:endParaRPr lang="en-US" dirty="0"/>
          </a:p>
          <a:p>
            <a:r>
              <a:rPr lang="en-US" dirty="0">
                <a:hlinkClick r:id="rId7"/>
              </a:rPr>
              <a:t>https://www.ebi.ac.uk/gxa/sc/home</a:t>
            </a:r>
            <a:endParaRPr lang="en-US" dirty="0"/>
          </a:p>
          <a:p>
            <a:r>
              <a:rPr lang="en-US" dirty="0">
                <a:hlinkClick r:id="rId8"/>
              </a:rPr>
              <a:t>https://panglaodb.se/#google_vignette</a:t>
            </a:r>
            <a:endParaRPr lang="en-US" dirty="0"/>
          </a:p>
          <a:p>
            <a:r>
              <a:rPr lang="en-US">
                <a:hlinkClick r:id="rId9"/>
              </a:rPr>
              <a:t>https://www.sc-best-practices.org/</a:t>
            </a:r>
            <a:endParaRPr lang="en-US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627919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1143000"/>
            <a:ext cx="8046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Obrigada!</a:t>
            </a:r>
            <a:endParaRPr lang="en-US" sz="34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2788920"/>
            <a:ext cx="8046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C9CEDD"/>
                </a:solidFill>
              </a:rPr>
              <a:t>Material: github.com/kur1sutaru/curso-singlecell-multiome-avancado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C9CEDD"/>
                </a:solidFill>
              </a:rPr>
              <a:t>Notebooks testados · slides · pipelines · referências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C9CEDD"/>
                </a:solidFill>
              </a:rPr>
              <a:t>Dra. Cristal Villalba · ORCID 0000-0003-0283-7982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urso Single-cell Avancado">
  <a:themeElements>
    <a:clrScheme name="Curso Single-cell Avancado">
      <a:dk1>
        <a:srgbClr val="1A1D2E"/>
      </a:dk1>
      <a:lt1>
        <a:srgbClr val="FFFFFF"/>
      </a:lt1>
      <a:dk2>
        <a:srgbClr val="3A4060"/>
      </a:dk2>
      <a:lt2>
        <a:srgbClr val="EFF2F7"/>
      </a:lt2>
      <a:accent1>
        <a:srgbClr val="0E9F8E"/>
      </a:accent1>
      <a:accent2>
        <a:srgbClr val="D98B1F"/>
      </a:accent2>
      <a:accent3>
        <a:srgbClr val="7B5EA7"/>
      </a:accent3>
      <a:accent4>
        <a:srgbClr val="D9534F"/>
      </a:accent4>
      <a:accent5>
        <a:srgbClr val="2F6DB5"/>
      </a:accent5>
      <a:accent6>
        <a:srgbClr val="6B7280"/>
      </a:accent6>
      <a:hlink>
        <a:srgbClr val="2F6DB5"/>
      </a:hlink>
      <a:folHlink>
        <a:srgbClr val="7B5EA7"/>
      </a:folHlink>
    </a:clrScheme>
    <a:fontScheme name="Curso Single-cell Avancado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2097</Words>
  <Application>Microsoft Office PowerPoint</Application>
  <PresentationFormat>On-screen Show (16:9)</PresentationFormat>
  <Paragraphs>375</Paragraphs>
  <Slides>29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4" baseType="lpstr">
      <vt:lpstr>Arial</vt:lpstr>
      <vt:lpstr>Calibri</vt:lpstr>
      <vt:lpstr>Cambria</vt:lpstr>
      <vt:lpstr>Courier New</vt:lpstr>
      <vt:lpstr>Curso Single-cell Avancado</vt:lpstr>
      <vt:lpstr>Análise avançada de single-cell RNA-seq, ATAC-seq e Multiome no Google Colab</vt:lpstr>
      <vt:lpstr>Roteiro de hoje</vt:lpstr>
      <vt:lpstr>Ontem, em três frases</vt:lpstr>
      <vt:lpstr>Multiome: RNA e ATAC do mesmo núcleo</vt:lpstr>
      <vt:lpstr>O que muda quando as modalidades são pareadas</vt:lpstr>
      <vt:lpstr>O que se espera no multiome</vt:lpstr>
      <vt:lpstr>MuData: um contêiner para várias AnnData</vt:lpstr>
      <vt:lpstr>WNN: cada célula decide em quem confiar</vt:lpstr>
      <vt:lpstr>WNN, MultiVI e totalVI: quem faz o quê</vt:lpstr>
      <vt:lpstr>Ligações pico–gene: qual enhancer regula qual gene?</vt:lpstr>
      <vt:lpstr>Ponte com R: Signac/Seurat ↔ muon/Scanpy</vt:lpstr>
      <vt:lpstr>Prática 3 · notebook 03</vt:lpstr>
      <vt:lpstr>Redes regulatórias: TF → enhancer → gene</vt:lpstr>
      <vt:lpstr>O eRegulon: três evidências para um trio</vt:lpstr>
      <vt:lpstr>Camadas de evidência e onde medir cada uma</vt:lpstr>
      <vt:lpstr>Por que não rodar o SCENIC+ no Colab gratuito?</vt:lpstr>
      <vt:lpstr>Nosso pipeline leve × SCENIC+</vt:lpstr>
      <vt:lpstr>Da rede à bancada: priorizar alvos</vt:lpstr>
      <vt:lpstr>Prática 4 · notebook 04</vt:lpstr>
      <vt:lpstr>Reprodutibilidade e escalabilidade</vt:lpstr>
      <vt:lpstr>Seis camadas de reprodutibilidade</vt:lpstr>
      <vt:lpstr>Sementes: mesma semente, mesmo resultado</vt:lpstr>
      <vt:lpstr>Do notebook ao pipeline: Snakemake</vt:lpstr>
      <vt:lpstr>Snakemake ou Nextflow?</vt:lpstr>
      <vt:lpstr>Publicação FAIR: o que vai para onde</vt:lpstr>
      <vt:lpstr>Resumo: seus dados, do Cell Ranger à análise</vt:lpstr>
      <vt:lpstr>Bonus – onde encontrar dados de single cell, tutoriais e mais</vt:lpstr>
      <vt:lpstr>Onde encontrar dados publicos:</vt:lpstr>
      <vt:lpstr>Obrigada!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Aula 2: Multiome, redes regulatórias e reprodutibilidade</dc:title>
  <dc:subject>PptxGenJS Presentation</dc:subject>
  <dc:creator>Dra. Cristal Villalba</dc:creator>
  <cp:lastModifiedBy>Villalba Silva, Gerda</cp:lastModifiedBy>
  <cp:revision>3</cp:revision>
  <dcterms:created xsi:type="dcterms:W3CDTF">2026-10-05T17:09:43Z</dcterms:created>
  <dcterms:modified xsi:type="dcterms:W3CDTF">2026-10-26T14:51:59Z</dcterms:modified>
</cp:coreProperties>
</file>