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AB394EA-FE2C-430A-963E-246101B84341}">
          <p14:sldIdLst>
            <p14:sldId id="256"/>
            <p14:sldId id="257"/>
            <p14:sldId id="258"/>
            <p14:sldId id="259"/>
            <p14:sldId id="281"/>
          </p14:sldIdLst>
        </p14:section>
        <p14:section name="scRNA-seq avançado" id="{2CAC82E4-DEA4-4866-1BE9-5928B09F10E6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cATAC-seq" id="{D0140CB3-4375-2450-8783-BFD9FA49344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Fechamento" id="{6073D0CE-1F43-FB70-27A9-CA59B4966326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6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331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1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Curso de aprofundamento: assume QC, normalização, clustering e UMAP com Scanpy. Foco em ferramentas e decisões metodológicas.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Teoria curta seguida de prática guiada. Os notebooks estão no repositório; cada bloco tem um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que guia o curso: quando e por que usar cada ferramenta. Vamos comparar ferramentas equivalentes.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o notebook 00 agora. Se o Colab pedir para reiniciar a sessão, reiniciar e seguir da checagem.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Doublets heterotípicos criam falsos tipos intermediários e falsas trajetórias. Rodar sempre por canal/lote.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notebook rodamos Scrublet e DoubletDetection; scDblFinder fica como célula opcional em R (rpy2/Rscript).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notebook usamos a interseção e depois conferimos clusters suspeitos. Exercício 1: trocar para 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prático: o wrapper do Scanpy para Harmony quebra com harmonypy 2.0; no notebook chamamos o harmonypy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scANVI = scVI + rótulos (semi-supervisionado), usado depois para label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rótulos para a métrica vêm do CellTypist, que classifica cada célula independentemente da integração. Benchmark completo: scib-metrics.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pychromvar 0.0.4 densifica a matriz e quebra com anndata recente; reimplementamos o cálculo de forma esparsa e validamos contra 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salvarem os resultados no Drive. Amanhã começamos pelo notebook 03 (GPU).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9CEDD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rgbClr val="C9CEDD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A6"/>
                </a:solidFill>
              </a:rPr>
              <a:t>Single-cell avançado · RNA, ATAC e Multiome no Colab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conductor.org/packages/release/bioc/html/scviR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scvi-tools.org/en/1.3.3/user_guide/models/scvi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avançada de single-cell RNA-seq, ATAC-seq e Multiome no Google Colab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Aula 1 · scRNA-seq avançado e scATAC-seq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Dra. Cristal Villalba · 26 de outubro de 2026 · 18h–21h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github.com/kur1sutaru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hoje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225296"/>
            <a:ext cx="246888" cy="246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18:00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103120" y="11430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Abertura e Colab reprodutível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105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938528"/>
            <a:ext cx="246888" cy="246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8562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18:30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103120" y="185623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scRNA-seq: doublets, integração, anotação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523744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2651760"/>
            <a:ext cx="246888" cy="246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5694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19:35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103120" y="256946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Intervalo (o scVI treina enquanto isso)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2369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364992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2826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19:45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103120" y="328269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scATAC-seq: fragmentos → picos → motivos → tópicos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395020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4078224"/>
            <a:ext cx="246888" cy="24688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9959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20:50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2103120" y="3995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Discussão e prévia do Dia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módulo introdutório para o avançado</a:t>
            </a:r>
            <a:endParaRPr lang="en-US" sz="2600" dirty="0"/>
          </a:p>
        </p:txBody>
      </p:sp>
      <p:sp>
        <p:nvSpPr>
          <p:cNvPr id="3" name="card Você já sabe"/>
          <p:cNvSpPr/>
          <p:nvPr/>
        </p:nvSpPr>
        <p:spPr>
          <a:xfrm>
            <a:off x="45720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Você já sabe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QC por célula (UMIs, genes, % mito)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Normalização e log1p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HVGs, PCA, vizinhos, UMAP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Leiden e genes marcadores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AnnData e Scanpy</a:t>
            </a:r>
            <a:endParaRPr lang="en-US" sz="1400" dirty="0"/>
          </a:p>
        </p:txBody>
      </p:sp>
      <p:sp>
        <p:nvSpPr>
          <p:cNvPr id="8" name="card Hoje e amanhã"/>
          <p:cNvSpPr/>
          <p:nvPr/>
        </p:nvSpPr>
        <p:spPr>
          <a:xfrm>
            <a:off x="4754880" y="1097280"/>
            <a:ext cx="39319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Hoje e amanhã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47088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Escolher entre métodos equivalentes, com métricas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Doublets, lotes e anotação automatizada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Cromatina: fragmentos, picos, motivos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RNA + ATAC da mesma célula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Redes regulatórias e pipelines reprodutíveis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Pergunta-guia do curso: quando e por que usar cada ferramenta?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reprodutível em quatro hábitos</a:t>
            </a:r>
            <a:endParaRPr lang="en-US" sz="2600" dirty="0"/>
          </a:p>
        </p:txBody>
      </p:sp>
      <p:sp>
        <p:nvSpPr>
          <p:cNvPr id="3" name="card GPU T4"/>
          <p:cNvSpPr/>
          <p:nvPr/>
        </p:nvSpPr>
        <p:spPr>
          <a:xfrm>
            <a:off x="457200" y="1024128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1673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GPU T4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7393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Ambiente de execução → T4: scVI e MultiVI ~10× mais rápidos.</a:t>
            </a:r>
            <a:endParaRPr lang="en-US" sz="1300" dirty="0"/>
          </a:p>
        </p:txBody>
      </p:sp>
      <p:sp>
        <p:nvSpPr>
          <p:cNvPr id="8" name="card Versões fixadas"/>
          <p:cNvSpPr/>
          <p:nvPr/>
        </p:nvSpPr>
        <p:spPr>
          <a:xfrm>
            <a:off x="4663440" y="1024128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2070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167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Versões fixadas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7393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pip install pacote==x.y.z. Versões testadas juntas.</a:t>
            </a:r>
            <a:endParaRPr lang="en-US" sz="1300" dirty="0"/>
          </a:p>
        </p:txBody>
      </p:sp>
      <p:sp>
        <p:nvSpPr>
          <p:cNvPr id="13" name="card Uma semente"/>
          <p:cNvSpPr/>
          <p:nvPr/>
        </p:nvSpPr>
        <p:spPr>
          <a:xfrm>
            <a:off x="457200" y="2322576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" y="250545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151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Uma semente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07238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SEED controla NumPy, PyTorch, Leiden e UMAP.</a:t>
            </a:r>
            <a:endParaRPr lang="en-US" sz="1300" dirty="0"/>
          </a:p>
        </p:txBody>
      </p:sp>
      <p:sp>
        <p:nvSpPr>
          <p:cNvPr id="18" name="card Resultados no Drive"/>
          <p:cNvSpPr/>
          <p:nvPr/>
        </p:nvSpPr>
        <p:spPr>
          <a:xfrm>
            <a:off x="4663440" y="2322576"/>
            <a:ext cx="4023360" cy="1207008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46320" y="250545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6151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4871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Resultados no Drive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07238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 disco do Colab é apagado ao fim da sessão.</a:t>
            </a:r>
            <a:endParaRPr lang="en-US" sz="1300" dirty="0"/>
          </a:p>
        </p:txBody>
      </p:sp>
      <p:sp>
        <p:nvSpPr>
          <p:cNvPr id="23" name="bloco de código"/>
          <p:cNvSpPr/>
          <p:nvPr/>
        </p:nvSpPr>
        <p:spPr>
          <a:xfrm>
            <a:off x="457200" y="3730752"/>
            <a:ext cx="8229600" cy="86868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594360" y="38221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%pip install -q scanpy==1.12.4 anndata==0.13.4 scvi-tools==1.5.1 snapatac2==2.10.0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celltypist==1.7.1 decoupler==2.2.0 scikit-learn==1.7.2 harmonypy==2.0.2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notebook 00_setup_colab: confere tudo e mostra uma tabela ✅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A1F3-2A9E-584C-4C2B-6B5ACF89A4B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vc</a:t>
            </a:r>
            <a:r>
              <a:rPr lang="en-US" dirty="0"/>
              <a:t> </a:t>
            </a:r>
            <a:r>
              <a:rPr lang="en-US" dirty="0" err="1"/>
              <a:t>chegou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saber o </a:t>
            </a:r>
            <a:r>
              <a:rPr lang="en-US" dirty="0" err="1"/>
              <a:t>que</a:t>
            </a:r>
            <a:r>
              <a:rPr lang="en-US" dirty="0"/>
              <a:t> e o </a:t>
            </a:r>
            <a:r>
              <a:rPr lang="en-US" dirty="0" err="1"/>
              <a:t>tal</a:t>
            </a:r>
            <a:r>
              <a:rPr lang="en-US" dirty="0"/>
              <a:t> do Google </a:t>
            </a:r>
            <a:r>
              <a:rPr lang="en-US" dirty="0" err="1"/>
              <a:t>colab</a:t>
            </a:r>
            <a:r>
              <a:rPr lang="en-US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6396C-0E49-30D2-CB3D-131FD4253C59}"/>
              </a:ext>
            </a:extLst>
          </p:cNvPr>
          <p:cNvSpPr txBox="1"/>
          <p:nvPr/>
        </p:nvSpPr>
        <p:spPr>
          <a:xfrm>
            <a:off x="2286000" y="224976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https://www.datacamp.com/pt/tutorial/tutorial-google-colab-for-data-scientists</a:t>
            </a:r>
          </a:p>
        </p:txBody>
      </p:sp>
    </p:spTree>
    <p:extLst>
      <p:ext uri="{BB962C8B-B14F-4D97-AF65-F5344CB8AC3E}">
        <p14:creationId xmlns:p14="http://schemas.microsoft.com/office/powerpoint/2010/main" val="407208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C9CEDD"/>
                </a:solidFill>
              </a:rPr>
              <a:t>Parte A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scRNA-seq: doublets, integração e anotação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Doublets: duas células, um barcode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~0,8%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10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 doublets a cada 1.000 células recuperadas (10x 3')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27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em um canal com 10.000 células</a:t>
            </a:r>
            <a:endParaRPr lang="en-US" sz="1200" dirty="0"/>
          </a:p>
        </p:txBody>
      </p:sp>
      <p:sp>
        <p:nvSpPr>
          <p:cNvPr id="7" name="card Heterotípicos (detectáveis)"/>
          <p:cNvSpPr/>
          <p:nvPr/>
        </p:nvSpPr>
        <p:spPr>
          <a:xfrm>
            <a:off x="3749040" y="1097280"/>
            <a:ext cx="4937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319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26280" y="1261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Heterotípicos (detectáveis)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18470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Tipos diferentes no mesmo droplet: perfil "híbrido" (ex.: CD3E + CD79A) que imita um estado intermediário.</a:t>
            </a:r>
            <a:endParaRPr lang="en-US" sz="1400" dirty="0"/>
          </a:p>
        </p:txBody>
      </p:sp>
      <p:sp>
        <p:nvSpPr>
          <p:cNvPr id="12" name="card Homotípicos (quase invisíveis)"/>
          <p:cNvSpPr/>
          <p:nvPr/>
        </p:nvSpPr>
        <p:spPr>
          <a:xfrm>
            <a:off x="3749040" y="2880360"/>
            <a:ext cx="4937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931920" y="306324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317296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30449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Homotípicos (quase invisíveis)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36301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Duas células do mesmo tipo: parecem uma célula com mais UMIs. Nenhum método os pega bem.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estratégias de detecção</a:t>
            </a:r>
            <a:endParaRPr lang="en-US" sz="2600" dirty="0"/>
          </a:p>
        </p:txBody>
      </p:sp>
      <p:sp>
        <p:nvSpPr>
          <p:cNvPr id="3" name="card Scrublet"/>
          <p:cNvSpPr/>
          <p:nvPr/>
        </p:nvSpPr>
        <p:spPr>
          <a:xfrm>
            <a:off x="457200" y="1097280"/>
            <a:ext cx="2624328" cy="27432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Scrublet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2258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Simula doublets somando pares de células. Score = fração de vizinhos simulados no kNN.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i="1" dirty="0">
                <a:solidFill>
                  <a:schemeClr val="accent6"/>
                </a:solidFill>
              </a:rPr>
              <a:t>Python · Scanpy</a:t>
            </a:r>
            <a:endParaRPr lang="en-US" sz="1100" dirty="0"/>
          </a:p>
        </p:txBody>
      </p:sp>
      <p:sp>
        <p:nvSpPr>
          <p:cNvPr id="9" name="card DoubletDetection"/>
          <p:cNvSpPr/>
          <p:nvPr/>
        </p:nvSpPr>
        <p:spPr>
          <a:xfrm>
            <a:off x="3264408" y="1097280"/>
            <a:ext cx="2624328" cy="27432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389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41648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DoubletDetection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1847088"/>
            <a:ext cx="2258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Simula várias vezes, clusteriza e testa (hipergeométrico) se a célula cai em clusters ricos em doublets.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47288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i="1" dirty="0">
                <a:solidFill>
                  <a:schemeClr val="accent6"/>
                </a:solidFill>
              </a:rPr>
              <a:t>Python</a:t>
            </a:r>
            <a:endParaRPr lang="en-US" sz="1100" dirty="0"/>
          </a:p>
        </p:txBody>
      </p:sp>
      <p:sp>
        <p:nvSpPr>
          <p:cNvPr id="15" name="card scDblFinder"/>
          <p:cNvSpPr/>
          <p:nvPr/>
        </p:nvSpPr>
        <p:spPr>
          <a:xfrm>
            <a:off x="6071616" y="1097280"/>
            <a:ext cx="2624328" cy="274320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38988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48856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scDblFinder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54496" y="1847088"/>
            <a:ext cx="2258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+ gradient boosting em várias features. Costuma liderar benchmarks.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i="1" dirty="0">
                <a:solidFill>
                  <a:schemeClr val="accent6"/>
                </a:solidFill>
              </a:rPr>
              <a:t>R · Bioconductor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Regra de ouro: rode por lote/canal (batch_key). Doublets só existem dentro do mesmo canal.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métodos discordam. E agora?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Na prática, a concordância (Jaccard) entre métodos costuma ser baixa. Decida a estratégia antes de olhar o resultado: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24328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12064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Conservadora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remove só o consenso (interseção)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4408" y="1828800"/>
            <a:ext cx="2624328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319272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Agressiva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51460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remove a união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71616" y="1828800"/>
            <a:ext cx="2624328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12648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Guiada pela biologia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514600"/>
            <a:ext cx="2441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remove clusters com marcadores incompatíveis + score alto</a:t>
            </a:r>
            <a:endParaRPr lang="en-US" sz="1400" dirty="0"/>
          </a:p>
        </p:txBody>
      </p:sp>
      <p:sp>
        <p:nvSpPr>
          <p:cNvPr id="13" name="bloco de código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94360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sc.pp.scrublet(adata, batch_key="batch", expected_doublet_rate=0.06)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doubletdetection.BoostClassifier(n_iters=10, clustering_algorithm="leiden")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adata.obs["doublet_consenso"] = adata.obs.dbl_scrublet &amp; adata.obs.dbl_doubletdetection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de lote: o caso de hoje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18872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pbmc3k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química 3' v1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12064" y="2468880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pbmc10k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química 3' v3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331720"/>
            <a:ext cx="82296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297680" y="11887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Mesmo tecido e mesmos tipos celulares → a biologia esperada é conhecida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Profundidade e captura de genes muito diferentes → as células separam por lote no UMAP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Cenário ideal para comparar métodos: o que deve misturar (lote) e o que não deve (tipo celular) é claro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Lote = qualquer fonte técnica de variação: corrida, química, dia, operador, centro.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</a:t>
            </a:r>
            <a:r>
              <a:rPr lang="en-US" sz="2600" b="1" dirty="0" err="1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metodos</a:t>
            </a: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integração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corrige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brilha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(PCA), por clusterização suave iterativa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X_pca_harmony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 lotes, rápido, grande escala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grafo: k vizinhos buscados em cada lote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leve; precisa só de grafo para clusterizar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Scanorama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embedding, via vizinhos mútuos entre lotes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X_scanorama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lotes com sobreposição parcial de tipos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generativo (VAE) com lote como covariável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X_scVI + contagens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lotes, atlas, composição diferente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Nenhum deles serve para expressão diferencial: use </a:t>
            </a:r>
            <a:r>
              <a:rPr lang="en-US" sz="1400" b="1" dirty="0" err="1">
                <a:solidFill>
                  <a:schemeClr val="tx1"/>
                </a:solidFill>
              </a:rPr>
              <a:t>contagens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>
                <a:solidFill>
                  <a:schemeClr val="tx1"/>
                </a:solidFill>
              </a:rPr>
              <a:t>brutas</a:t>
            </a:r>
            <a:r>
              <a:rPr lang="en-US" sz="1400" b="1" dirty="0">
                <a:solidFill>
                  <a:schemeClr val="tx1"/>
                </a:solidFill>
              </a:rPr>
              <a:t> (raw) com o </a:t>
            </a:r>
            <a:r>
              <a:rPr lang="en-US" sz="1400" b="1" dirty="0" err="1">
                <a:solidFill>
                  <a:schemeClr val="tx1"/>
                </a:solidFill>
              </a:rPr>
              <a:t>lote</a:t>
            </a:r>
            <a:r>
              <a:rPr lang="en-US" sz="1400" b="1" dirty="0">
                <a:solidFill>
                  <a:schemeClr val="tx1"/>
                </a:solidFill>
              </a:rPr>
              <a:t> (batch) como covariável.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scVI por dentro: um autoencoder variacional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82880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contagens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cruas 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2286000"/>
            <a:ext cx="41148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14600" y="18288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569464" y="182880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2286000"/>
            <a:ext cx="41148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352544" y="1691640"/>
            <a:ext cx="1261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(latente,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10–30 dim)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154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52544" y="31546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lote 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2286000"/>
            <a:ext cx="41148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3429000"/>
            <a:ext cx="685800" cy="0"/>
          </a:xfrm>
          <a:prstGeom prst="line">
            <a:avLst/>
          </a:prstGeom>
          <a:noFill/>
          <a:ln w="19050">
            <a:solidFill>
              <a:srgbClr val="D953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27064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2286000"/>
            <a:ext cx="3200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827264" y="1828800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NB(μ, θ)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 lote entra no decoder: z não precisa codificá-lo. O espaço latente guarda a variação que o lote não explica.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Entrada: contagens cruas (layer="counts"), nunca 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4B1AFB-AF3B-998A-0DB9-1891D72CF032}"/>
              </a:ext>
            </a:extLst>
          </p:cNvPr>
          <p:cNvSpPr txBox="1"/>
          <p:nvPr/>
        </p:nvSpPr>
        <p:spPr>
          <a:xfrm>
            <a:off x="182880" y="4295894"/>
            <a:ext cx="7543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https://www.bioconductor.org/packages/release/bioc/html/scviR.html</a:t>
            </a:r>
            <a:endParaRPr lang="en-US" sz="1400" dirty="0"/>
          </a:p>
          <a:p>
            <a:r>
              <a:rPr lang="en-US" sz="1400" dirty="0">
                <a:hlinkClick r:id="rId4"/>
              </a:rPr>
              <a:t>https://docs.scvi-tools.org/en/1.3.3/user_guide/models/scvi.html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UMAP engana: meça os dois objetivos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4206240"/>
            <a:ext cx="365760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4206240"/>
            <a:ext cx="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1168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mistura de lotes →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 rot="16200000">
            <a:off x="-6858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conservação biológica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8872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889504" y="11887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ideal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18872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106424" y="11887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sem correção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3383280"/>
            <a:ext cx="16459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889504" y="338328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sobrecorreção</a:t>
            </a:r>
            <a:endParaRPr lang="en-US" sz="1300" dirty="0"/>
          </a:p>
        </p:txBody>
      </p:sp>
      <p:sp>
        <p:nvSpPr>
          <p:cNvPr id="13" name="card Mistura de lotes"/>
          <p:cNvSpPr/>
          <p:nvPr/>
        </p:nvSpPr>
        <p:spPr>
          <a:xfrm>
            <a:off x="5029200" y="1097280"/>
            <a:ext cx="36576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38988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806440" y="1261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Mistura de batch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18470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Entropia normalizada dos lotes entre os k vizinhos (parente do iLISI)</a:t>
            </a:r>
            <a:endParaRPr lang="en-US" sz="1300" dirty="0"/>
          </a:p>
        </p:txBody>
      </p:sp>
      <p:sp>
        <p:nvSpPr>
          <p:cNvPr id="18" name="card Conservação biológica"/>
          <p:cNvSpPr/>
          <p:nvPr/>
        </p:nvSpPr>
        <p:spPr>
          <a:xfrm>
            <a:off x="5029200" y="2788920"/>
            <a:ext cx="36576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21208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08152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806440" y="2953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Conservação biológica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212080" y="35387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Fração de vizinhos com o mesmo tipo celular (kNN purity, parente do cLISI)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Anotação automatizada: três evidências independentes</a:t>
            </a:r>
            <a:endParaRPr lang="en-US" sz="2600" dirty="0"/>
          </a:p>
        </p:txBody>
      </p:sp>
      <p:sp>
        <p:nvSpPr>
          <p:cNvPr id="3" name="card Classificador"/>
          <p:cNvSpPr/>
          <p:nvPr/>
        </p:nvSpPr>
        <p:spPr>
          <a:xfrm>
            <a:off x="457200" y="1097280"/>
            <a:ext cx="2624328" cy="265176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Classificador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225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CellTypist: regressão logística treinada em atlas. Por célula + majority voting por cluster.</a:t>
            </a:r>
            <a:endParaRPr lang="en-US" sz="1400" dirty="0"/>
          </a:p>
        </p:txBody>
      </p:sp>
      <p:sp>
        <p:nvSpPr>
          <p:cNvPr id="8" name="card Mapeamento de referência"/>
          <p:cNvSpPr/>
          <p:nvPr/>
        </p:nvSpPr>
        <p:spPr>
          <a:xfrm>
            <a:off x="3264408" y="1097280"/>
            <a:ext cx="2624328" cy="265176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Mapeamento de referência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847088"/>
            <a:ext cx="225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scANVI (semi-supervisionado) ou sc.tl.ingest (projeção + kNN) a partir de uma referência anotada.</a:t>
            </a:r>
            <a:endParaRPr lang="en-US" sz="1400" dirty="0"/>
          </a:p>
        </p:txBody>
      </p:sp>
      <p:sp>
        <p:nvSpPr>
          <p:cNvPr id="13" name="card Assinaturas"/>
          <p:cNvSpPr/>
          <p:nvPr/>
        </p:nvSpPr>
        <p:spPr>
          <a:xfrm>
            <a:off x="6071616" y="1097280"/>
            <a:ext cx="2624328" cy="2651760"/>
          </a:xfrm>
          <a:prstGeom prst="roundRect">
            <a:avLst>
              <a:gd name="adj" fmla="val 27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389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48856" y="12618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Assinaturas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847088"/>
            <a:ext cx="225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decoupler (ULM): score de conjuntos de marcadores, curados ou PanglaoDB.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Onde os métodos discordam está a informação: transições, tipos raros, doublets que escaparam, rótulos ausentes da referência.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1 · notebook 01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QC por lote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7736" y="1668780"/>
            <a:ext cx="128016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62328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908048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2864" y="1668780"/>
            <a:ext cx="128016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67456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13176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CellTypist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07992" y="1668780"/>
            <a:ext cx="128016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72584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18304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 integrações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3120" y="1668780"/>
            <a:ext cx="128016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7712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23432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Métricas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8248" y="1668780"/>
            <a:ext cx="128016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82840" y="1234440"/>
            <a:ext cx="12039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28560" y="1234440"/>
            <a:ext cx="1112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Anotação refinada</a:t>
            </a:r>
            <a:endParaRPr lang="en-US" sz="1300" dirty="0"/>
          </a:p>
        </p:txBody>
      </p:sp>
      <p:sp>
        <p:nvSpPr>
          <p:cNvPr id="20" name="bloco de código"/>
          <p:cNvSpPr/>
          <p:nvPr/>
        </p:nvSpPr>
        <p:spPr>
          <a:xfrm>
            <a:off x="457200" y="2423160"/>
            <a:ext cx="8229600" cy="150876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251460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 = harmonypy.run_harmony(adata.obsm["X_pca"], adata.obs, "batch")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sc.external.pp.bbknn(adata, batch_key="batch")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sc.external.pp.scanorama_integrate(adata, key="batch")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scvi.model.SCVI.setup_anndata(adata_hvg, layer="counts", batch_key="batch")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lvae = scvi.model.SCANVI.from_scvi_model(vae, unlabeled_category="Unknown", labels_key="ref_label")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≈ 45 min · GPU T4 · rode o scVI antes do intervalo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C9CEDD"/>
                </a:solidFill>
              </a:rPr>
              <a:t>Parte B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scATAC-seq: da cromatina aberta aos fatores de transcrição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começa no arquivo de fragmentos</a:t>
            </a:r>
            <a:endParaRPr lang="en-US" sz="2600" dirty="0"/>
          </a:p>
        </p:txBody>
      </p:sp>
      <p:sp>
        <p:nvSpPr>
          <p:cNvPr id="3" name="bloco de código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chr1   10066   10279   AAACGAACAGTCAGTT-1  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chr1   10073   10249   AAACTGCAGAGCATTA-1  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#crom  início  fim     barcode da célula    nº de leituras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8516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17602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fragmentos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45436" y="2766060"/>
            <a:ext cx="20116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83180" y="2377440"/>
            <a:ext cx="18516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628900" y="2377440"/>
            <a:ext cx="17602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tiles 500 pb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2766060"/>
            <a:ext cx="20116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18516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54880" y="2377440"/>
            <a:ext cx="17602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picos (MACS3)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97396" y="2766060"/>
            <a:ext cx="201168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5140" y="2377440"/>
            <a:ext cx="185166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80860" y="2377440"/>
            <a:ext cx="17602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motivos / GRN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 Tn5 corta DNA acessível; cada fragmento é uma evidência de cromatina aberta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Tiles servem para QC e clusterização; picos, para motivos, ligações e GRN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Guarde sempre os fragmentos: picos, matrizes e coverage são derivados deles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 no ATAC: duas assinaturas de qualidade</a:t>
            </a:r>
            <a:endParaRPr lang="en-US" sz="2600" dirty="0"/>
          </a:p>
        </p:txBody>
      </p:sp>
      <p:sp>
        <p:nvSpPr>
          <p:cNvPr id="3" name="card TSS enrichment (TSSe)"/>
          <p:cNvSpPr/>
          <p:nvPr/>
        </p:nvSpPr>
        <p:spPr>
          <a:xfrm>
            <a:off x="457200" y="109728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TSS enrichment (TSSe)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Sinal nos TSS em relação ao fundo. É a razão sinal/ruído do ATAC.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ENCODE: &gt; 6 aceitável, &gt; 10 ideal.</a:t>
            </a:r>
            <a:endParaRPr lang="en-US" sz="1400" dirty="0"/>
          </a:p>
        </p:txBody>
      </p:sp>
      <p:sp>
        <p:nvSpPr>
          <p:cNvPr id="8" name="card Tamanho dos fragmentos"/>
          <p:cNvSpPr/>
          <p:nvPr/>
        </p:nvSpPr>
        <p:spPr>
          <a:xfrm>
            <a:off x="4754880" y="109728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Tamanho dos fragmentos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47088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Picos em ~50 pb (livre), ~200 pb (mono-) e ~400 pb (di-nucleossomo). Sem periodicidade, desconfie.</a:t>
            </a:r>
            <a:endParaRPr lang="en-US" sz="1400" dirty="0"/>
          </a:p>
        </p:txBody>
      </p:sp>
      <p:sp>
        <p:nvSpPr>
          <p:cNvPr id="13" name="bloco de código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94360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snap.pp.import_fragments(frag, chrom_sizes=snap.genome.hg38, sorted_by_barcode=False)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snap.metrics.tsse(data, snap.genome.hg38)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snap.pp.filter_cells(data, min_counts=5000, min_tsse=10, max_counts=100_000)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binários e esparsos pedem outra matemática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SnapATAC2 (espectral)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LSI (Signac, ArchR, muon)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de similaridade cosseno → autovetores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 (TF-IDF) → SVD truncada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componente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correlaciona com profundidade → descartar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amostragem de Nyström: milhões de células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cresce com a matriz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notebook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snap.tl.spectral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mu.atac.pp.tfidf + mu.atac.tl.lsi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E o episcanpy? Não importa com numpy 2 nem com anndata ≥ 0.11. Vamos ver o erro ao vivo: é uma lição sobre manutenção.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Picos por grupo e gene activity</a:t>
            </a:r>
            <a:endParaRPr lang="en-US" sz="2600" dirty="0"/>
          </a:p>
        </p:txBody>
      </p:sp>
      <p:sp>
        <p:nvSpPr>
          <p:cNvPr id="3" name="card MACS3 por tipo celular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MACS3 por tipo celular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Sucessor mantido do MACS2.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Chamar picos por grupo (pseudobulk) recupera picos de tipos raros, que um bulk único diluiria.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Depois, unificar em janelas fixas de 501 pb.</a:t>
            </a:r>
            <a:endParaRPr lang="en-US" sz="1400" dirty="0"/>
          </a:p>
        </p:txBody>
      </p:sp>
      <p:sp>
        <p:nvSpPr>
          <p:cNvPr id="8" name="card Gene activity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Gene activity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47088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Inserções no corpo do gene + 2 kb a montante.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Ponte para usar marcadores de RNA na anotação.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Ruidoso: genes longos acumulam sinal; enhancers distais ficam de fora.</a:t>
            </a:r>
            <a:endParaRPr lang="en-US" sz="1400" dirty="0"/>
          </a:p>
        </p:txBody>
      </p:sp>
      <p:sp>
        <p:nvSpPr>
          <p:cNvPr id="13" name="bloco de código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94360" y="3749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snap.tl.macs3(data, groupby="cell_type", qvalue=0.05)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picos = snap.tl.merge_peaks(data.uns["macs3"], snap.genome.hg38)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gene_mat = snap.pp.make_gene_matrix(data, snap.genome.hg38)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Motivos: por grupo ou por célula</a:t>
            </a:r>
            <a:endParaRPr lang="en-US" sz="2600" dirty="0"/>
          </a:p>
        </p:txBody>
      </p:sp>
      <p:sp>
        <p:nvSpPr>
          <p:cNvPr id="3" name="card Enriquecimento em picos marcadores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Enriquecimento em picos marcadores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Quais motivos sobram nos picos específicos de cada tipo? Teste hipergeométrico (snap.tl.motif_enrichment, CIS-BP).</a:t>
            </a:r>
            <a:endParaRPr lang="en-US" sz="1400" dirty="0"/>
          </a:p>
        </p:txBody>
      </p:sp>
      <p:sp>
        <p:nvSpPr>
          <p:cNvPr id="8" name="card chromVAR (desvios por célula)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chromVAR (desvios por célula)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4708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Picos com o motivo X estão mais acessíveis que o esperado? Fundo com mesmo GC e acessibilidade → z-score.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Esperado em PBMC: SPI1 e CEBP em monócitos · PAX5 e EBF1 em B · TBX21 e EOMES em NK · TCF7 e LEF1 em T naive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tx2"/>
                </a:solidFill>
              </a:rPr>
              <a:t>Motivos da mesma família dão sinais quase idênticos: o chromVAR aponta a família. Para o membro, cruze com o RNA (Aula 2).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Tópicos: programas regulatórios sem clusters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12064" y="128016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célula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645920"/>
            <a:ext cx="5486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128016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980944" y="12801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mistura de tópicos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0" y="1645920"/>
            <a:ext cx="5486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1280160"/>
            <a:ext cx="292608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815584" y="128016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tópico = distribuição sobre regiões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317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cisTopic/pycisTopic aplica LDA (Latent Dirichlet Allocation) à matriz binária célula × pico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Tópicos capturam programas compartilhados entre tipos e estados contínuos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pycisTopic é a entrada do SCENIC+, mas pede Python 3.11 e muita RAM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 Colab: mesmo modelo (LDA variacional, scikit-learn) para entender o conceito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Footprinting: onde o TF está de fato ligado</a:t>
            </a:r>
            <a:endParaRPr lang="en-US" sz="2600" dirty="0"/>
          </a:p>
        </p:txBody>
      </p:sp>
      <p:sp>
        <p:nvSpPr>
          <p:cNvPr id="3" name="card A ideia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ideia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Um TF ligado protege o DNA do Tn5: um "vale" estreito no sítio do motivo, entre picos de acessibilidade.</a:t>
            </a:r>
            <a:endParaRPr lang="en-US" sz="1400" dirty="0"/>
          </a:p>
        </p:txBody>
      </p:sp>
      <p:sp>
        <p:nvSpPr>
          <p:cNvPr id="8" name="card Requisitos"/>
          <p:cNvSpPr/>
          <p:nvPr/>
        </p:nvSpPr>
        <p:spPr>
          <a:xfrm>
            <a:off x="4754880" y="10972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Requisitos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470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Muita profundidade por grupo e correção do viés de sequência do Tn5.</a:t>
            </a:r>
            <a:endParaRPr lang="en-US" sz="1400" dirty="0"/>
          </a:p>
        </p:txBody>
      </p:sp>
      <p:sp>
        <p:nvSpPr>
          <p:cNvPr id="13" name="bloco de código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44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94360" y="33832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snap.ex.export_coverage(data, groupby="cell_type", output_format="bigwig")   # no notebook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TOBIAS ATACorrect     --bam Mono.bam --genome hg38.fa --peaks picos.bed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TOBIAS FootprintScores --signal Mono_corrected.bw --regions picos.bed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TOBIAS BINDetect      --motifs JASPAR2024.meme --signals Mono_fp.bw B_fp.bw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2 · notebook 02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Fragmentos + QC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28354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56370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02090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Tiles + doublets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752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5554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90126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Espectral × LSI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2669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5471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10043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586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388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29960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MACS3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5035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53051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98771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Motivos + chromVAR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24206" y="1691640"/>
            <a:ext cx="91440" cy="0"/>
          </a:xfrm>
          <a:prstGeom prst="line">
            <a:avLst/>
          </a:prstGeom>
          <a:noFill/>
          <a:ln w="19050">
            <a:solidFill>
              <a:srgbClr val="3A40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52222" y="1234440"/>
            <a:ext cx="1034578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697942" y="1234440"/>
            <a:ext cx="943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Tópicos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514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CPU basta (≈ 25 min). O primeiro acesso ao hg38 baixa ~1 GB: rode a seção de motivos cedo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Gráficos do SnapATAC2 são interativos (plotly)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Exercício: mude MIN_TSSE para 5 e 15. Surgem clusters de baixa qualidade?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Lição do dia: software também envelhece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quebrou (versões de out/2026)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contornamos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+ harmonypy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dimensão no wrapper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chamar harmonypy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CellTypist 1.7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≥ 1.8 removeu multi_class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scikit-learn==1.7.2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episcanpy 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importa (numpy 2, anndata ≥ 0.11)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ferramentas mantidas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pychromvar 0.0.4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AnnData(dtype=) removido; matriz densa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reimplementação esparsa validada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Fixe versões que funcionam juntas, registre-as com os resultados e teste antes de atualizar.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A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Amanhã: RNA e ATAC da mesma célula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Multiome: MuData, WNN, MultiVI e ligações pico–gene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Redes regulatórias: TF → enhancer → gene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EDD"/>
                </a:solidFill>
              </a:rPr>
              <a:t>Reprodutibilidade: Snakemake, Nextflow e FAIR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so Single-cell Avancado">
  <a:themeElements>
    <a:clrScheme name="Curso Single-cell Avancado">
      <a:dk1>
        <a:srgbClr val="1A1D2E"/>
      </a:dk1>
      <a:lt1>
        <a:srgbClr val="FFFFFF"/>
      </a:lt1>
      <a:dk2>
        <a:srgbClr val="3A4060"/>
      </a:dk2>
      <a:lt2>
        <a:srgbClr val="EFF2F7"/>
      </a:lt2>
      <a:accent1>
        <a:srgbClr val="0E9F8E"/>
      </a:accent1>
      <a:accent2>
        <a:srgbClr val="D98B1F"/>
      </a:accent2>
      <a:accent3>
        <a:srgbClr val="7B5EA7"/>
      </a:accent3>
      <a:accent4>
        <a:srgbClr val="D9534F"/>
      </a:accent4>
      <a:accent5>
        <a:srgbClr val="2F6DB5"/>
      </a:accent5>
      <a:accent6>
        <a:srgbClr val="6B7280"/>
      </a:accent6>
      <a:hlink>
        <a:srgbClr val="2F6DB5"/>
      </a:hlink>
      <a:folHlink>
        <a:srgbClr val="7B5EA7"/>
      </a:folHlink>
    </a:clrScheme>
    <a:fontScheme name="Curso Single-cell Avanca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2428</Words>
  <Application>Microsoft Office PowerPoint</Application>
  <PresentationFormat>On-screen Show (16:9)</PresentationFormat>
  <Paragraphs>316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Curso Single-cell Avancado</vt:lpstr>
      <vt:lpstr>Análise avançada de single-cell RNA-seq, ATAC-seq e Multiome no Google Colab</vt:lpstr>
      <vt:lpstr>Roteiro de hoje</vt:lpstr>
      <vt:lpstr>Do módulo introdutório para o avançado</vt:lpstr>
      <vt:lpstr>Colab reprodutível em quatro hábitos</vt:lpstr>
      <vt:lpstr>Se vc chegou aqui sem saber o que e o tal do Google colab…</vt:lpstr>
      <vt:lpstr>scRNA-seq: doublets, integração e anotação</vt:lpstr>
      <vt:lpstr>Doublets: duas células, um barcode</vt:lpstr>
      <vt:lpstr>Três estratégias de detecção</vt:lpstr>
      <vt:lpstr>Os métodos discordam. E agora?</vt:lpstr>
      <vt:lpstr>Efeito de lote: o caso de hoje</vt:lpstr>
      <vt:lpstr>Quatro metodos de integração</vt:lpstr>
      <vt:lpstr>scVI por dentro: um autoencoder variacional</vt:lpstr>
      <vt:lpstr>UMAP engana: meça os dois objetivos</vt:lpstr>
      <vt:lpstr>Anotação automatizada: três evidências independentes</vt:lpstr>
      <vt:lpstr>Prática 1 · notebook 01</vt:lpstr>
      <vt:lpstr>scATAC-seq: da cromatina aberta aos fatores de transcrição</vt:lpstr>
      <vt:lpstr>Tudo começa no arquivo de fragmentos</vt:lpstr>
      <vt:lpstr>QC no ATAC: duas assinaturas de qualidade</vt:lpstr>
      <vt:lpstr>Dados binários e esparsos pedem outra matemática</vt:lpstr>
      <vt:lpstr>Picos por grupo e gene activity</vt:lpstr>
      <vt:lpstr>Motivos: por grupo ou por célula</vt:lpstr>
      <vt:lpstr>Tópicos: programas regulatórios sem clusters</vt:lpstr>
      <vt:lpstr>Footprinting: onde o TF está de fato ligado</vt:lpstr>
      <vt:lpstr>Prática 2 · notebook 02</vt:lpstr>
      <vt:lpstr>Lição do dia: software também envelhece</vt:lpstr>
      <vt:lpstr>Amanhã: RNA e ATAC da mesma célula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1: scRNA-seq avançado e scATAC-seq</dc:title>
  <dc:subject>PptxGenJS Presentation</dc:subject>
  <dc:creator>Dra. Cristal Villalba</dc:creator>
  <cp:lastModifiedBy>Villalba Silva, Gerda</cp:lastModifiedBy>
  <cp:revision>5</cp:revision>
  <dcterms:created xsi:type="dcterms:W3CDTF">2026-10-05T17:08:56Z</dcterms:created>
  <dcterms:modified xsi:type="dcterms:W3CDTF">2026-10-26T14:43:07Z</dcterms:modified>
</cp:coreProperties>
</file>